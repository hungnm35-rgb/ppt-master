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chương IV: từ bài này, chúng ta bước sang hình học không gian – nghiên cứu các hình không nằm hoàn toàn trong một mặt phẳng. Bài 10 là bài nền tảng: làm quen với mặt phẳng, các tính chất thừa nhận và hai hình quan trọng nhất là hình chóp, hình tứ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Nêu mục tiêu và 4 nội dung chính. Nhấn mạnh: hình học không gian cần trí tưởng tượng – các em nên tự vẽ hình theo từng bước cùng thầy/cô.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học sinh dự đoán, ghi lại các ý kiến lên bảng. Không chốt đáp án ngay – sẽ giải thích ở slide 13 sau khi học tính chất 2 và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Mặt phẳng là khái niệm cơ bản, không định nghĩa. Lưu ý học sinh: hình bình hành chỉ là hình vẽ đại diện cho một phần mặt phẳng; thực tế mặt phẳng trải rộng vô hạn. Hỏi: kể thêm hình ảnh của mặt phẳng trong lớp học (sàn nhà, trần nhà, mặt tường, trang giấy…).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hai kí hiệu quan trọng ∈ và ∉ dùng cho quan hệ điểm – mặt phẳng (giống quan hệ phần tử – tập hợp). Nét đứt dưới điểm B gợi ý B ở phía trên mặt phẳng, không nằm trong nó.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học sinh so sánh: mặt đáy của hình hộp là hình chữ nhật nhưng vẽ thành hình bình hành – vẫn đúng quy tắc vì giữ được tính song song. Nhấn mạnh quy tắc nét đứt: đây là lỗi học sinh hay mắc nhất khi vẽ hình không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chuột để vẽ từng bước. Yêu cầu học sinh vẽ theo vào vở. Hỏi: nếu đặt đỉnh D ở phía trước thì nét đứt sẽ thay đổi thế nào? (Cạnh khuất luôn là cạnh ở phía sau so với người nhìn.)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Tính chất 1 các em đã biết từ hình học phẳng; trong không gian nó vẫn đúng. Tính chất 2 là điểm mới: 3 điểm không thẳng hàng 'neo' được một mặt phẳng duy nhất. Liên hệ ngay: 3 chân của giá máy ảnh là 3 điểm không thẳng hàng → luôn cùng nằm trên một mặt phẳng.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Tính chất 3 cho phép ta kiểm tra một đường thẳng có nằm trong mặt phẳng hay không chỉ bằng hai điểm. Ứng dụng thực tế: thợ xây dùng thước thẳng áp lên mặt tường để kiểm tra tường có phẳng hay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Tính chất 4 khẳng định không gian 'dày' hơn mặt phẳng: luôn có điểm nằm ngoài một mặt phẳng cho trước. Đây chính là lí do bàn bốn chân có thể bị kênh: 4 đầu chân bàn có thể không đồng phẳng.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hợp tính chất 1 và 5: hai điểm chung M, N xác định một đường thẳng duy nhất → giao tuyến. PHƯƠNG PHÁP CỐT LÕI: muốn tìm giao tuyến của hai mặt phẳng, ta tìm HAI điểm chung của chúng.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Tính chất 6 là 'cầu nối' giữa hình học phẳng và hình học không gian. Kĩ năng quan trọng: tách riêng từng mặt phẳng (tô màu mặt SAB) để nhìn thấy bài toán phẳng quen thuộc bên 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Quay lại câu hỏi đầu giờ, đối chiếu với dự đoán của học sinh. Mở rộng: vì sao ghế đẩu ba chân, kiềng ba chân trong bếp lại vững? Vì sao bàn bốn chân thường có ốc điều chỉnh độ cao ở chân?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Cách 2 và cách 3 được suy ra từ cách 1 (tính chất 2): lấy thêm điểm trên đường thẳng để có ba điểm không thẳng hàng. Hỏi: hai đường thẳng song song có xác định một mặt phẳng không? (Có – sẽ học ở bài sau.)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từng bước: (1) vẽ hình chóp, (2) tô mặt (SAC), (3) tô mặt (SBD), (4) điểm chung thứ hai O, (5) giao tuyến SO. Lập luận đầy đủ: S ∈ (SAC) và S ∈ (SBD). O ∈ AC ⊂ (SAC) và O ∈ BD ⊂ (SBD). Vậy (SAC) ∩ (SBD) =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mấu chốt: AB và CD cùng nằm trong mặt phẳng đáy (ABCD) và không song song nên chúng cắt nhau. Sai lầm thường gặp: kéo dài hai đường thẳng KHÔNG cùng nằm trong một mặt phẳng (ví dụ SA và CD) – chúng không cắt nhau!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Minh họa động: d xuyên qua (P) tại I (phần dưới (P) vẽ nét đứt). Mặt phẳng phụ (Q) chứa d cắt (P) theo giao tuyến Δ; I là giao của d và Δ. Nhấn mạnh: d và Δ cùng nằm trong (Q) nên mới cắt nhau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Ở đây mặt phẳng phụ chính là (ABC) chứa MN. Giao tuyến của (ABC) và (BCD) là BC. Giao điểm K nằm trên phần kéo dài của BC (về phía C). Có thể hỏi thêm: nếu N là trung điểm của AC thì sao? (MN // BC – không cắt (BCD), sẽ học ở bài 12.)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bài toán điển hình áp dụng cách 2 (mặt phẳng phụ). Liên kết với Ví dụ 1 đã tìm được (SAC) ∩ (SBD) = SO. Phần nhận xét vận dụng tính chất 6: kết quả hình học phẳng (trọng tâm tam giác) dùng được trong mặt phẳng (SAC).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Lập luận chi tiết: E ∈ MN ⊂ (MNP) và E ∈ BC ⊂ (BCD). Tương tự cho F (NP và CD), G (MP và BD). Hai mặt phẳng (MNP) và (BCD) phân biệt nên chung nhau đúng một giao tuyến → E, F, G thẳng hàng. Các điểm E, F, G nằm ngoài tứ diện, trên phần kéo dài của các cạnh đáy.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trên hình: mặt đáy tô xanh lục, một mặt bên tô vàng (SA₂A₃). Hỏi: hình chóp S.A₁A₂A₃A₄A₅ có bao nhiêu mặt bên, bao nhiêu cạnh bên, bao nhiêu cạnh? (5 mặt bên, 5 cạnh bên, 10 cạnh.)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học sinh kể các vật có dạng hình chóp trong thực tế: kim tự tháp Ai Cập, mái nhà hình chóp, lều cắm trại, tháp chuông… Hỏi: hình chóp n-giác có bao nhiêu mặt? (n + 1 mặt.)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Hình tứ diện chính là hình chóp tam giác, nhưng mặt nào cũng có thể xem là mặt đáy. Chỉ trên hình cặp cạnh đối diện AB – CD (tô đỏ) và mặt đáy BCD (tô xanh) đối diện đỉnh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học sinh tự nhắc lại nội dung từng nhánh trước khi bấm hiện. Có thể giao học sinh tự vẽ sơ đồ tư duy của riêng mình vào vở.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lần bấm chuột sẽ hiện khung xanh đánh dấu đáp án đúng, lần lượt từ câu đầu đến câu cuối. Đáp án: Câu 1: B; Câu 2: B; Câu 3: C; Câu 4: D. Câu 4: hình chóp tứ giác có 4 cạnh bên + 4 cạnh đáy = 8 cạnh. Câu 3: một đường thẳng và một điểm nằm trên nó có vô số mặt phẳng đi qua.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lần bấm chuột sẽ hiện khung xanh đánh dấu đáp án đúng, lần lượt từ câu đầu đến câu cuối. Đáp án: Câu 5: B; Câu 6: B; Câu 7: C; Câu 8: B. Câu 4: hình chóp tứ giác có 4 cạnh bên + 4 cạnh đáy = 8 cạnh. Câu 3: một đường thẳng và một điểm nằm trên nó có vô số mặt phẳng đi qua.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bài thêm: (SAD) ∩ (SBC) = SE với E = AD ∩ BC; (SAC) ∩ (SBD) = SO với O = AC ∩ BD. Tiết sau: Bài 11 – Hai đường thẳng song song.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51560"/>
            <a:ext cx="6309360" cy="4206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371600"/>
            <a:ext cx="73152" cy="32918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FDBA74"/>
                </a:solidFill>
                <a:latin typeface="Arial"/>
              </a:rPr>
              <a:t>TOÁN 11 · KẾT NỐI TRI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4572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BFDBFE"/>
                </a:solidFill>
                <a:latin typeface="Arial"/>
              </a:rPr>
              <a:t>CHƯƠNG IV · QUAN HỆ SONG SONG TRONG KHÔNG GIAN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75488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DBA74"/>
                </a:solidFill>
                <a:latin typeface="Arial"/>
              </a:rPr>
              <a:t>Bài 10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ĐƯỜNG THẲNG VÀ MẶT PHẲNG TRONG KHÔNG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4572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E2E8F0"/>
                </a:solidFill>
                <a:latin typeface="Arial"/>
              </a:rPr>
              <a:t>Mặt phẳng · Các tính chất thừa nhận · Cách xác định mặt phẳng · Hình chóp và hình tứ diện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Nhận biết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mặt phẳng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, quan hệ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điểm thuộc / không thuộc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mặt phẳng; biết vẽ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hình biểu diễn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của hình không gian.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Phát biểu và vận dụng được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6 tính chất thừa nhận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của hình học không gian.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Biết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3 cách xác định một mặt phẳng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Tìm được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giao tuyến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của hai mặt phẳng,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giao điểm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của đường thẳng và mặt phẳng; chứng minh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ba điểm thẳng hàng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Nhận biết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hình chóp</a:t>
            </a:r>
            <a:r>
              <a:rPr sz="17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hình tứ diện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và các yếu tố của chúng.</a:t>
            </a:r>
          </a:p>
          <a:p>
            <a:pPr marL="274320" indent="-274320">
              <a:lnSpc>
                <a:spcPct val="110000"/>
              </a:lnSpc>
              <a:spcAft>
                <a:spcPts val="8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Vận dụng giải thích các hiện tượng thực tiễn (chân máy ảnh, bàn bị kênh, cánh cửa…).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463040"/>
            <a:ext cx="47548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14032" y="1664208"/>
            <a:ext cx="621792" cy="62179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572768"/>
            <a:ext cx="3749039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Arial"/>
              </a:rPr>
              <a:t>Khái niệm mở đầu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Mặt phẳng, điểm thuộc mặt phẳng, hình biểu diễn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51760"/>
            <a:ext cx="47548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14032" y="2852928"/>
            <a:ext cx="621792" cy="62179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749039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Arial"/>
              </a:rPr>
              <a:t>Các tính chất thừa nhận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Sáu tính chất làm nền móng cho hình học không gian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3840480"/>
            <a:ext cx="47548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14032" y="4041648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50208"/>
            <a:ext cx="3749039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Arial"/>
              </a:rPr>
              <a:t>Cách xác định mặt phẳng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Giao tuyến, giao điểm, ba điểm thẳng hàng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5029200"/>
            <a:ext cx="47548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14032" y="5230368"/>
            <a:ext cx="621792" cy="621792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138928"/>
            <a:ext cx="3749039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Arial"/>
              </a:rPr>
              <a:t>Hình chóp và hình tứ diện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Arial"/>
              </a:rPr>
              <a:t>Định nghĩa, các yếu tố, cách gọi tên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5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50"/>
                            </p:stCondLst>
                            <p:childTnLst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5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950"/>
                            </p:stCondLst>
                            <p:childTnLst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950"/>
                            </p:stCondLst>
                            <p:childTnLst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Vì sao chân máy ảnh có 3 chân?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19" y="1417320"/>
            <a:ext cx="5486400" cy="368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03_tri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94960" cy="3596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417320"/>
            <a:ext cx="5486400" cy="368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4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394960" cy="3596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138928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▲ </a:t>
            </a:r>
            <a:r>
              <a:rPr sz="1300" b="0" i="1">
                <a:solidFill>
                  <a:srgbClr val="64748B"/>
                </a:solidFill>
                <a:latin typeface="Arial"/>
              </a:rPr>
              <a:t>Giá ba chân luôn đứng vững, kể cả trên nền gồ ghề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138928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▲ </a:t>
            </a:r>
            <a:r>
              <a:rPr sz="1300" b="0" i="1">
                <a:solidFill>
                  <a:srgbClr val="64748B"/>
                </a:solidFill>
                <a:latin typeface="Arial"/>
              </a:rPr>
              <a:t>Chiếc bàn bốn chân đôi khi bị kênh, hở một chân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77840"/>
            <a:ext cx="11109960" cy="685800"/>
          </a:xfrm>
          <a:prstGeom prst="roundRect">
            <a:avLst>
              <a:gd name="adj" fmla="val 30000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05272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Câu hỏi: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Vì sao giá ba chân luôn đứng vững, còn bàn bốn chân lại có thể bị kênh? Câu trả lời nằm trong các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tính chất thừa nhận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của bài học hôm nay!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1. KHÁI NIỆM 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Mặt phẳng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19" y="1417320"/>
            <a:ext cx="5212079" cy="350519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02_life_p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120640" cy="3413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95604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▲ </a:t>
            </a:r>
            <a:r>
              <a:rPr sz="1300" b="0" i="1">
                <a:solidFill>
                  <a:srgbClr val="64748B"/>
                </a:solidFill>
                <a:latin typeface="Arial"/>
              </a:rPr>
              <a:t>Mặt hồ, mặt bàn, mặt bảng cho ta hình ảnh một phần của mặt phẳng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08760"/>
            <a:ext cx="5577840" cy="178308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KHÁI NIỆM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709928"/>
            <a:ext cx="5248655" cy="1508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Mặt bàn, mặt bảng, mặt hồ phẳng lặng… cho ta hình ảnh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một phần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của mặt phẳng.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Mặt phẳng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không có bề dày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không có giới hạn</a:t>
            </a:r>
            <a:r>
              <a:rPr sz="17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09360" y="3840479"/>
            <a:ext cx="2834640" cy="1371600"/>
          </a:xfrm>
          <a:custGeom>
            <a:avLst/>
            <a:gdLst/>
            <a:ahLst/>
            <a:cxnLst/>
            <a:rect l="l" t="t" r="r" b="b"/>
            <a:pathLst>
              <a:path w="2834640" h="1371600">
                <a:moveTo>
                  <a:pt x="731520" y="0"/>
                </a:moveTo>
                <a:lnTo>
                  <a:pt x="2834640" y="0"/>
                </a:lnTo>
                <a:lnTo>
                  <a:pt x="210312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7595" y="3913631"/>
            <a:ext cx="9235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>(P)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3611880"/>
            <a:ext cx="2194560" cy="251460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919" y="3456432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KÍ HIỆU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3813048"/>
            <a:ext cx="1865376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Mặt phẳng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mp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hoặc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(α)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(β)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440680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Biểu diễn mặt phẳng bằng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hình bình hành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và ghi tên ở một góc.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1. KHÁI NIỆM 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Điểm thuộc mặt phẳng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5</a:t>
            </a:r>
          </a:p>
        </p:txBody>
      </p:sp>
      <p:sp>
        <p:nvSpPr>
          <p:cNvPr id="9" name="Freeform 8"/>
          <p:cNvSpPr/>
          <p:nvPr/>
        </p:nvSpPr>
        <p:spPr>
          <a:xfrm>
            <a:off x="822960" y="2752344"/>
            <a:ext cx="5554980" cy="2345436"/>
          </a:xfrm>
          <a:custGeom>
            <a:avLst/>
            <a:gdLst/>
            <a:ahLst/>
            <a:cxnLst/>
            <a:rect l="l" t="t" r="r" b="b"/>
            <a:pathLst>
              <a:path w="5554980" h="2345436">
                <a:moveTo>
                  <a:pt x="1357884" y="0"/>
                </a:moveTo>
                <a:lnTo>
                  <a:pt x="5554980" y="0"/>
                </a:lnTo>
                <a:lnTo>
                  <a:pt x="4197096" y="2345436"/>
                </a:lnTo>
                <a:lnTo>
                  <a:pt x="0" y="2345436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1914" y="2915107"/>
            <a:ext cx="9235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>(P)</a:t>
            </a:r>
          </a:p>
        </p:txBody>
      </p:sp>
      <p:sp>
        <p:nvSpPr>
          <p:cNvPr id="11" name="Oval 10"/>
          <p:cNvSpPr/>
          <p:nvPr/>
        </p:nvSpPr>
        <p:spPr>
          <a:xfrm>
            <a:off x="3127248" y="3945636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4076" y="3602736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4732020" y="1476756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133856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3168" y="1517904"/>
            <a:ext cx="0" cy="1851660"/>
          </a:xfrm>
          <a:prstGeom prst="line">
            <a:avLst/>
          </a:prstGeom>
          <a:ln w="15875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150876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353312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KÍ HIỆU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709928"/>
            <a:ext cx="5020055" cy="18287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Điểm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thuộc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mặt phẳng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:  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∈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Ta còn nói: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nằm trên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, hay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chứa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700" b="0" i="0">
                <a:solidFill>
                  <a:srgbClr val="1F2937"/>
                </a:solidFill>
                <a:latin typeface="Arial"/>
              </a:rPr>
              <a:t>, hay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đi qua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7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31920"/>
            <a:ext cx="5349240" cy="146304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3776472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KÍ HIỆU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133087"/>
            <a:ext cx="502005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Điểm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B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không thuộc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mặt phẳng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:  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B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∉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Ta còn nói: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B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nằm ngoài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, hay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không chứa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B</a:t>
            </a:r>
            <a:r>
              <a:rPr sz="17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" dur="5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1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1. KHÁI NIỆM MỞ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Hình biểu diễn của một hình không gian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852160" cy="466344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417319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QUY TẮC VẼ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5522976" cy="4389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Hình biểu diễn của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đường thẳng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là đường thẳng, của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đoạn thẳng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là đoạn thẳng.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Hai đường thẳng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song song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được biểu diễn bởi hai đường thẳng song song; hai đường thẳng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cắt nhau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bởi hai đường thẳng cắt nhau.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Giữ nguyên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quan hệ thuộc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giữa điểm và đường thẳng.</a:t>
            </a:r>
          </a:p>
          <a:p>
            <a:pPr marL="274320" indent="-274320">
              <a:lnSpc>
                <a:spcPct val="110000"/>
              </a:lnSpc>
              <a:spcAft>
                <a:spcPts val="1200"/>
              </a:spcAft>
              <a:buClr>
                <a:srgbClr val="1E3A8A"/>
              </a:buClr>
              <a:buFont typeface="Arial"/>
              <a:buChar char="●"/>
            </a:pPr>
            <a:r>
              <a:rPr sz="1700" b="0" i="0">
                <a:solidFill>
                  <a:srgbClr val="1F2937"/>
                </a:solidFill>
                <a:latin typeface="Arial"/>
              </a:rPr>
              <a:t>Đường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nhìn thấy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vẽ nét liền; đường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bị che khuất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vẽ nét đứt.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2651760"/>
            <a:ext cx="2011680" cy="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869680" y="2011679"/>
            <a:ext cx="731520" cy="640081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589520" y="2011679"/>
            <a:ext cx="2011680" cy="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858000" y="2011679"/>
            <a:ext cx="731520" cy="640081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2651760"/>
            <a:ext cx="0" cy="14630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2651760"/>
            <a:ext cx="0" cy="14630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01200" y="2011679"/>
            <a:ext cx="0" cy="1463041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114800"/>
            <a:ext cx="2011680" cy="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69680" y="3474720"/>
            <a:ext cx="731520" cy="64008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89520" y="2011679"/>
            <a:ext cx="0" cy="1463041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58000" y="3474720"/>
            <a:ext cx="731520" cy="64008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89520" y="3474720"/>
            <a:ext cx="2011680" cy="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66560" y="425196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▲ </a:t>
            </a:r>
            <a:r>
              <a:rPr sz="1300" b="0" i="1">
                <a:solidFill>
                  <a:srgbClr val="64748B"/>
                </a:solidFill>
                <a:latin typeface="Arial"/>
              </a:rPr>
              <a:t>Hình hộp chữ nhật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692640" y="1737360"/>
            <a:ext cx="914400" cy="2103119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515600" y="1737360"/>
            <a:ext cx="91440" cy="2560319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7040" y="1737360"/>
            <a:ext cx="1005840" cy="19202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92640" y="3840479"/>
            <a:ext cx="822960" cy="45720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515600" y="3657600"/>
            <a:ext cx="1097280" cy="640079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692640" y="3657600"/>
            <a:ext cx="1920240" cy="182879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09760" y="4251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▲ </a:t>
            </a:r>
            <a:r>
              <a:rPr sz="1300" b="0" i="1">
                <a:solidFill>
                  <a:srgbClr val="64748B"/>
                </a:solidFill>
                <a:latin typeface="Arial"/>
              </a:rPr>
              <a:t>Hình tứ diện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892040"/>
            <a:ext cx="4892040" cy="1280160"/>
          </a:xfrm>
          <a:prstGeom prst="roundRect">
            <a:avLst>
              <a:gd name="adj" fmla="val 6000"/>
            </a:avLst>
          </a:prstGeom>
          <a:solidFill>
            <a:srgbClr val="FCEEE6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49440" y="473659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CHÚ 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5093207"/>
            <a:ext cx="4562855" cy="10058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Hình biểu diễn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không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cần giữ đúng độ dài, góc: hình vuông có thể vẽ thành hình bình hành.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"/>
                            </p:stCondLst>
                            <p:childTnLst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9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3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7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1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5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1. KHÁI NIỆM MỞ ĐẦU · 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Vẽ hình chóp S.ABCD có đáy là hình bình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4690872"/>
            <a:ext cx="1069848" cy="1069848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67128" y="5760720"/>
            <a:ext cx="2971800" cy="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4690872"/>
            <a:ext cx="2971800" cy="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69080" y="4690872"/>
            <a:ext cx="1069848" cy="1069848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56132" y="4649724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0799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2125980" y="571957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57607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5097780" y="571957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57607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4027932" y="4649724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306824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2720339" y="155905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11887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097280" y="1600200"/>
            <a:ext cx="1664207" cy="309067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167128" y="1600200"/>
            <a:ext cx="594359" cy="416052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61487" y="1600200"/>
            <a:ext cx="2377441" cy="416052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61487" y="1600200"/>
            <a:ext cx="1307593" cy="3090672"/>
          </a:xfrm>
          <a:prstGeom prst="line">
            <a:avLst/>
          </a:prstGeom>
          <a:ln w="31750">
            <a:solidFill>
              <a:srgbClr val="EA58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00800" y="1508760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536192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Bước 1.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Vẽ đáy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là hình bình hành; cạnh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DC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bị che khuất → nét đứt.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606039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633472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Bước 2.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Lấy đỉnh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nằm phía trên mặt đáy.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03320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730752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Bước 3.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Nối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SA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bằng nét liền.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800600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828031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Bước 4.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Nối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bằng nét đứt (bị mặt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(SBC)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(SAB)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che khuất).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" dur="5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5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" dur="5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2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0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4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2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6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0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4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8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2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2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6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7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0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2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6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0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4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8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2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4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8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2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2. CÁC TÍNH CHẤT THỪA NHẬN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Tính chất 1 và Tính chất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TÍNH CHẤT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5157216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Tính chất 1.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Có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một và chỉ một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đường thẳng đi qua hai điểm phân biệt.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04671" y="3328416"/>
            <a:ext cx="4608577" cy="1024128"/>
          </a:xfrm>
          <a:prstGeom prst="line">
            <a:avLst/>
          </a:prstGeom>
          <a:ln w="317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421892" y="4165091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24527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4713732" y="343357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49300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337560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>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50876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TÍNH CHẤT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709928"/>
            <a:ext cx="5020055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Tính chất 2.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Có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một và chỉ một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mặt phẳng đi qua ba điểm không thẳng hàng.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Mặt phẳng qua ba điểm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kí hiệu là mp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(ABC)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hay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(ABC)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1" name="Freeform 20"/>
          <p:cNvSpPr/>
          <p:nvPr/>
        </p:nvSpPr>
        <p:spPr>
          <a:xfrm>
            <a:off x="6583680" y="3657600"/>
            <a:ext cx="4572000" cy="1828800"/>
          </a:xfrm>
          <a:custGeom>
            <a:avLst/>
            <a:gdLst/>
            <a:ahLst/>
            <a:cxnLst/>
            <a:rect l="l" t="t" r="r" b="b"/>
            <a:pathLst>
              <a:path w="4572000" h="1828800">
                <a:moveTo>
                  <a:pt x="1005840" y="0"/>
                </a:moveTo>
                <a:lnTo>
                  <a:pt x="4572000" y="0"/>
                </a:lnTo>
                <a:lnTo>
                  <a:pt x="3566160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6940" y="3730752"/>
            <a:ext cx="1325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>(ABC)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498079" y="4160520"/>
            <a:ext cx="365761" cy="91440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498079" y="4709160"/>
            <a:ext cx="2377441" cy="36576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4160520"/>
            <a:ext cx="2011680" cy="54864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822692" y="411937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19" y="381304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7456931" y="503377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59" y="48920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9834372" y="466801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93808" y="436168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64748B"/>
                </a:solidFill>
                <a:latin typeface="Arial"/>
              </a:rPr>
              <a:t>Đường thẳng qua hai điểm </a:t>
            </a:r>
            <a:r>
              <a:rPr sz="1800" b="0" i="1">
                <a:solidFill>
                  <a:srgbClr val="64748B"/>
                </a:solidFill>
                <a:latin typeface="Times New Roman"/>
              </a:rPr>
              <a:t>A</a:t>
            </a:r>
            <a:r>
              <a:rPr sz="1600" b="0" i="0">
                <a:solidFill>
                  <a:srgbClr val="64748B"/>
                </a:solidFill>
                <a:latin typeface="Arial"/>
              </a:rPr>
              <a:t>, </a:t>
            </a:r>
            <a:r>
              <a:rPr sz="1800" b="0" i="1">
                <a:solidFill>
                  <a:srgbClr val="64748B"/>
                </a:solidFill>
                <a:latin typeface="Times New Roman"/>
              </a:rPr>
              <a:t>B</a:t>
            </a:r>
            <a:r>
              <a:rPr sz="1600" b="0" i="0">
                <a:solidFill>
                  <a:srgbClr val="64748B"/>
                </a:solidFill>
                <a:latin typeface="Arial"/>
              </a:rPr>
              <a:t> kí hiệu là đường thẳng </a:t>
            </a:r>
            <a:r>
              <a:rPr sz="1800" b="0" i="1">
                <a:solidFill>
                  <a:srgbClr val="64748B"/>
                </a:solidFill>
                <a:latin typeface="Times New Roman"/>
              </a:rPr>
              <a:t>AB</a:t>
            </a:r>
            <a:r>
              <a:rPr sz="1600" b="0" i="0">
                <a:solidFill>
                  <a:srgbClr val="64748B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5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9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5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9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5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2. CÁC TÍNH CHẤT THỪA NHẬN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Tính chất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TÍNH CHẤT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10780776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Arial"/>
              </a:rPr>
              <a:t>Tính chất 3.</a:t>
            </a:r>
            <a:r>
              <a:rPr sz="1800" b="0" i="0">
                <a:solidFill>
                  <a:srgbClr val="1F2937"/>
                </a:solidFill>
                <a:latin typeface="Arial"/>
              </a:rPr>
              <a:t> Nếu một đường thẳng có </a:t>
            </a:r>
            <a:r>
              <a:rPr sz="1800" b="1" i="0">
                <a:solidFill>
                  <a:srgbClr val="1F2937"/>
                </a:solidFill>
                <a:latin typeface="Arial"/>
              </a:rPr>
              <a:t>hai điểm phân biệt</a:t>
            </a:r>
            <a:r>
              <a:rPr sz="1800" b="0" i="0">
                <a:solidFill>
                  <a:srgbClr val="1F2937"/>
                </a:solidFill>
                <a:latin typeface="Arial"/>
              </a:rPr>
              <a:t> thuộc một mặt phẳng thì </a:t>
            </a:r>
            <a:r>
              <a:rPr sz="1800" b="1" i="0">
                <a:solidFill>
                  <a:srgbClr val="1F2937"/>
                </a:solidFill>
                <a:latin typeface="Arial"/>
              </a:rPr>
              <a:t>mọi điểm</a:t>
            </a:r>
            <a:r>
              <a:rPr sz="1800" b="0" i="0">
                <a:solidFill>
                  <a:srgbClr val="1F2937"/>
                </a:solidFill>
                <a:latin typeface="Arial"/>
              </a:rPr>
              <a:t> của đường thẳng đều thuộc mặt phẳng đó.</a:t>
            </a:r>
          </a:p>
        </p:txBody>
      </p:sp>
      <p:sp>
        <p:nvSpPr>
          <p:cNvPr id="12" name="Freeform 11"/>
          <p:cNvSpPr/>
          <p:nvPr/>
        </p:nvSpPr>
        <p:spPr>
          <a:xfrm>
            <a:off x="822960" y="3214115"/>
            <a:ext cx="5468112" cy="2313433"/>
          </a:xfrm>
          <a:custGeom>
            <a:avLst/>
            <a:gdLst/>
            <a:ahLst/>
            <a:cxnLst/>
            <a:rect l="l" t="t" r="r" b="b"/>
            <a:pathLst>
              <a:path w="5468112" h="2313433">
                <a:moveTo>
                  <a:pt x="1261871" y="0"/>
                </a:moveTo>
                <a:lnTo>
                  <a:pt x="5468112" y="0"/>
                </a:lnTo>
                <a:lnTo>
                  <a:pt x="4206240" y="2313433"/>
                </a:lnTo>
                <a:lnTo>
                  <a:pt x="0" y="2313433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" y="5029200"/>
            <a:ext cx="9235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>(P)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401318" y="3713606"/>
            <a:ext cx="4101083" cy="1419607"/>
          </a:xfrm>
          <a:prstGeom prst="line">
            <a:avLst/>
          </a:prstGeom>
          <a:ln w="3492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94425" y="3609594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d</a:t>
            </a:r>
          </a:p>
        </p:txBody>
      </p:sp>
      <p:sp>
        <p:nvSpPr>
          <p:cNvPr id="16" name="Oval 15"/>
          <p:cNvSpPr/>
          <p:nvPr/>
        </p:nvSpPr>
        <p:spPr>
          <a:xfrm>
            <a:off x="2043684" y="4855464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10511" y="4914899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M</a:t>
            </a:r>
          </a:p>
        </p:txBody>
      </p:sp>
      <p:sp>
        <p:nvSpPr>
          <p:cNvPr id="18" name="Oval 17"/>
          <p:cNvSpPr/>
          <p:nvPr/>
        </p:nvSpPr>
        <p:spPr>
          <a:xfrm>
            <a:off x="4777740" y="3909060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968496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2907792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KÍ HIỆU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264408"/>
            <a:ext cx="4928616" cy="14630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Đường thẳng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nằm trong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mặt phẳng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(hay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chứa </a:t>
            </a:r>
            <a:r>
              <a:rPr sz="19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700" b="0" i="0">
                <a:solidFill>
                  <a:srgbClr val="1F2937"/>
                </a:solidFill>
                <a:latin typeface="Arial"/>
              </a:rPr>
              <a:t>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1">
                <a:solidFill>
                  <a:srgbClr val="DC2626"/>
                </a:solidFill>
                <a:latin typeface="Times New Roman"/>
              </a:rPr>
              <a:t>d ⊂ (P)   hoặc   (P) ⊃ 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074920"/>
            <a:ext cx="5257800" cy="1143000"/>
          </a:xfrm>
          <a:prstGeom prst="roundRect">
            <a:avLst>
              <a:gd name="adj" fmla="val 6000"/>
            </a:avLst>
          </a:prstGeom>
          <a:solidFill>
            <a:srgbClr val="FCEEE6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0" y="491947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HOẠT ĐỘNG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276088"/>
            <a:ext cx="492861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Căng một sợi dây có hai đầu đặt sát mặt bàn → cả sợi dây nằm trên mặt bàn.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1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5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9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2. CÁC TÍNH CHẤT THỪA NHẬN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Tính chất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TÍNH CHẤT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10780776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Arial"/>
              </a:rPr>
              <a:t>Tính chất 4.</a:t>
            </a:r>
            <a:r>
              <a:rPr sz="1800" b="0" i="0">
                <a:solidFill>
                  <a:srgbClr val="1F2937"/>
                </a:solidFill>
                <a:latin typeface="Arial"/>
              </a:rPr>
              <a:t> Tồn tại </a:t>
            </a:r>
            <a:r>
              <a:rPr sz="1800" b="1" i="0">
                <a:solidFill>
                  <a:srgbClr val="1F2937"/>
                </a:solidFill>
                <a:latin typeface="Arial"/>
              </a:rPr>
              <a:t>bốn điểm không cùng thuộc một mặt phẳng</a:t>
            </a:r>
            <a:r>
              <a:rPr sz="18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Freeform 11"/>
          <p:cNvSpPr/>
          <p:nvPr/>
        </p:nvSpPr>
        <p:spPr>
          <a:xfrm>
            <a:off x="914400" y="4069080"/>
            <a:ext cx="4937760" cy="1920240"/>
          </a:xfrm>
          <a:custGeom>
            <a:avLst/>
            <a:gdLst/>
            <a:ahLst/>
            <a:cxnLst/>
            <a:rect l="l" t="t" r="r" b="b"/>
            <a:pathLst>
              <a:path w="4937760" h="1920240">
                <a:moveTo>
                  <a:pt x="1097280" y="0"/>
                </a:moveTo>
                <a:lnTo>
                  <a:pt x="4937760" y="0"/>
                </a:lnTo>
                <a:lnTo>
                  <a:pt x="384048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5756" y="4142232"/>
            <a:ext cx="9235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>(P)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377440" y="5349240"/>
            <a:ext cx="1828800" cy="18288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291840" y="4617720"/>
            <a:ext cx="914400" cy="73152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77440" y="4617720"/>
            <a:ext cx="914400" cy="914400"/>
          </a:xfrm>
          <a:prstGeom prst="line">
            <a:avLst/>
          </a:prstGeom>
          <a:ln w="1587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36292" y="549097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539496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4165091" y="53080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5212079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3250692" y="457657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23367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3067812" y="2747772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8960" y="2788920"/>
            <a:ext cx="0" cy="2286000"/>
          </a:xfrm>
          <a:prstGeom prst="line">
            <a:avLst/>
          </a:prstGeom>
          <a:ln w="15875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92240" y="2743200"/>
            <a:ext cx="5166360" cy="201168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0" y="258775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KHÁI NIỆM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1" y="2944368"/>
            <a:ext cx="4837176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Nếu có một mặt phẳng chứa các điểm thì ta nói các điểm đó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đồng phẳng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Ngược lại, ta nói các điểm đó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không đồng phẳng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5074920"/>
            <a:ext cx="5166360" cy="1143000"/>
          </a:xfrm>
          <a:prstGeom prst="roundRect">
            <a:avLst>
              <a:gd name="adj" fmla="val 6000"/>
            </a:avLst>
          </a:prstGeom>
          <a:solidFill>
            <a:srgbClr val="FCEEE6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5120" y="491947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CHÚ 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1" y="5276088"/>
            <a:ext cx="483717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Bốn điểm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B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trong hình bên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không đồng phẳng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vì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∉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(ABC)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9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3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2. CÁC TÍNH CHẤT THỪA NHẬN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Tính chất 5 – Giao tuyến của hai mặt phẳng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TÍNH CHẤT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10780776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Arial"/>
              </a:rPr>
              <a:t>Tính chất 5.</a:t>
            </a:r>
            <a:r>
              <a:rPr sz="1800" b="0" i="0">
                <a:solidFill>
                  <a:srgbClr val="1F2937"/>
                </a:solidFill>
                <a:latin typeface="Arial"/>
              </a:rPr>
              <a:t> Nếu hai mặt phẳng phân biệt có </a:t>
            </a:r>
            <a:r>
              <a:rPr sz="1800" b="1" i="0">
                <a:solidFill>
                  <a:srgbClr val="1F2937"/>
                </a:solidFill>
                <a:latin typeface="Arial"/>
              </a:rPr>
              <a:t>một điểm chung</a:t>
            </a:r>
            <a:r>
              <a:rPr sz="1800" b="0" i="0">
                <a:solidFill>
                  <a:srgbClr val="1F2937"/>
                </a:solidFill>
                <a:latin typeface="Arial"/>
              </a:rPr>
              <a:t> thì chúng còn có </a:t>
            </a:r>
            <a:r>
              <a:rPr sz="1800" b="1" i="0">
                <a:solidFill>
                  <a:srgbClr val="1F2937"/>
                </a:solidFill>
                <a:latin typeface="Arial"/>
              </a:rPr>
              <a:t>một điểm chung khác nữa</a:t>
            </a:r>
            <a:r>
              <a:rPr sz="18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Freeform 11"/>
          <p:cNvSpPr/>
          <p:nvPr/>
        </p:nvSpPr>
        <p:spPr>
          <a:xfrm>
            <a:off x="731520" y="3337560"/>
            <a:ext cx="4389120" cy="914400"/>
          </a:xfrm>
          <a:custGeom>
            <a:avLst/>
            <a:gdLst/>
            <a:ahLst/>
            <a:cxnLst/>
            <a:rect l="l" t="t" r="r" b="b"/>
            <a:pathLst>
              <a:path w="4389120" h="914400">
                <a:moveTo>
                  <a:pt x="0" y="914400"/>
                </a:moveTo>
                <a:lnTo>
                  <a:pt x="3291840" y="914400"/>
                </a:lnTo>
                <a:lnTo>
                  <a:pt x="4389120" y="0"/>
                </a:lnTo>
                <a:lnTo>
                  <a:pt x="1097280" y="0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194560" y="2788920"/>
            <a:ext cx="1280160" cy="3200400"/>
          </a:xfrm>
          <a:custGeom>
            <a:avLst/>
            <a:gdLst/>
            <a:ahLst/>
            <a:cxnLst/>
            <a:rect l="l" t="t" r="r" b="b"/>
            <a:pathLst>
              <a:path w="1280160" h="3200400">
                <a:moveTo>
                  <a:pt x="0" y="0"/>
                </a:moveTo>
                <a:lnTo>
                  <a:pt x="914400" y="0"/>
                </a:lnTo>
                <a:lnTo>
                  <a:pt x="1280160" y="3200400"/>
                </a:lnTo>
                <a:lnTo>
                  <a:pt x="365760" y="3200400"/>
                </a:lnTo>
                <a:close/>
              </a:path>
            </a:pathLst>
          </a:custGeom>
          <a:solidFill>
            <a:srgbClr val="FBBF24">
              <a:alpha val="35000"/>
            </a:srgbClr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395728" y="3794760"/>
            <a:ext cx="877824" cy="0"/>
          </a:xfrm>
          <a:prstGeom prst="line">
            <a:avLst/>
          </a:prstGeom>
          <a:ln w="444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69033" y="3794760"/>
            <a:ext cx="1931213" cy="0"/>
          </a:xfrm>
          <a:prstGeom prst="line">
            <a:avLst/>
          </a:prstGeom>
          <a:ln w="3175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19" y="3840480"/>
            <a:ext cx="640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>(P)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2834639"/>
            <a:ext cx="640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EA580C"/>
                </a:solidFill>
                <a:latin typeface="Times New Roman"/>
              </a:rPr>
              <a:t>(Q)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383279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1">
                <a:solidFill>
                  <a:srgbClr val="DC2626"/>
                </a:solidFill>
                <a:latin typeface="Times New Roman"/>
              </a:rP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2610612" y="375361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34747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M</a:t>
            </a:r>
          </a:p>
        </p:txBody>
      </p:sp>
      <p:sp>
        <p:nvSpPr>
          <p:cNvPr id="21" name="Oval 20"/>
          <p:cNvSpPr/>
          <p:nvPr/>
        </p:nvSpPr>
        <p:spPr>
          <a:xfrm>
            <a:off x="3022091" y="375361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39" y="34747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880360"/>
            <a:ext cx="5806440" cy="196596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040" y="2724912"/>
            <a:ext cx="1417319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ĐỊNH NGHĨA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3081528"/>
            <a:ext cx="5477255" cy="16916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Hai mặt phẳng phân biệt có điểm chung thì chúng có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một đường thẳng chung duy nhất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chứa tất cả các điểm chung. Đường thẳng đó gọi là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giao tuyến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của hai mặt phẳng.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 i="1">
                <a:solidFill>
                  <a:srgbClr val="DC2626"/>
                </a:solidFill>
                <a:latin typeface="Times New Roman"/>
              </a:rPr>
              <a:t>Kí hiệu:  d = (P) ∩ (Q)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4983480"/>
            <a:ext cx="182880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06_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5029200"/>
            <a:ext cx="1737360" cy="11612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18120" y="5074920"/>
            <a:ext cx="384048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Thực tế: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cánh cửa và bức tường là hai mặt phẳng; đường bản lề chính là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giao tuyến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của chúng.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2. CÁC TÍNH CHẤT THỪA NHẬN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Tính chất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TÍNH CHẤT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10780776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F2937"/>
                </a:solidFill>
                <a:latin typeface="Arial"/>
              </a:rPr>
              <a:t>Tính chất 6.</a:t>
            </a:r>
            <a:r>
              <a:rPr sz="1800" b="0" i="0">
                <a:solidFill>
                  <a:srgbClr val="1F2937"/>
                </a:solidFill>
                <a:latin typeface="Arial"/>
              </a:rPr>
              <a:t> Trong mỗi mặt phẳng, </a:t>
            </a:r>
            <a:r>
              <a:rPr sz="1800" b="1" i="0">
                <a:solidFill>
                  <a:srgbClr val="1F2937"/>
                </a:solidFill>
                <a:latin typeface="Arial"/>
              </a:rPr>
              <a:t>các kết quả đã biết của hình học phẳng đều đúng</a:t>
            </a:r>
            <a:r>
              <a:rPr sz="18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22960" y="3063240"/>
            <a:ext cx="1828800" cy="23774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286000" y="3063240"/>
            <a:ext cx="365760" cy="310896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51760" y="3063240"/>
            <a:ext cx="1645920" cy="219456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" y="5440680"/>
            <a:ext cx="1463040" cy="73152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286000" y="5257800"/>
            <a:ext cx="2011680" cy="91440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22960" y="5257800"/>
            <a:ext cx="3474720" cy="18288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37360" y="4251960"/>
            <a:ext cx="731520" cy="365760"/>
          </a:xfrm>
          <a:prstGeom prst="line">
            <a:avLst/>
          </a:prstGeom>
          <a:ln w="3492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696212" y="4210812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39776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M</a:t>
            </a:r>
          </a:p>
        </p:txBody>
      </p:sp>
      <p:sp>
        <p:nvSpPr>
          <p:cNvPr id="21" name="Oval 20"/>
          <p:cNvSpPr/>
          <p:nvPr/>
        </p:nvSpPr>
        <p:spPr>
          <a:xfrm>
            <a:off x="2427732" y="4576572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34340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N</a:t>
            </a:r>
          </a:p>
        </p:txBody>
      </p:sp>
      <p:sp>
        <p:nvSpPr>
          <p:cNvPr id="23" name="Freeform 22"/>
          <p:cNvSpPr/>
          <p:nvPr/>
        </p:nvSpPr>
        <p:spPr>
          <a:xfrm>
            <a:off x="822960" y="3063240"/>
            <a:ext cx="1828800" cy="3108960"/>
          </a:xfrm>
          <a:custGeom>
            <a:avLst/>
            <a:gdLst/>
            <a:ahLst/>
            <a:cxnLst/>
            <a:rect l="l" t="t" r="r" b="b"/>
            <a:pathLst>
              <a:path w="1828800" h="3108960">
                <a:moveTo>
                  <a:pt x="1828800" y="0"/>
                </a:moveTo>
                <a:lnTo>
                  <a:pt x="0" y="2377440"/>
                </a:lnTo>
                <a:lnTo>
                  <a:pt x="1463040" y="3108960"/>
                </a:lnTo>
                <a:close/>
              </a:path>
            </a:pathLst>
          </a:custGeom>
          <a:solidFill>
            <a:srgbClr val="FBBF24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10612" y="30220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265176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S</a:t>
            </a:r>
          </a:p>
        </p:txBody>
      </p:sp>
      <p:sp>
        <p:nvSpPr>
          <p:cNvPr id="26" name="Oval 25"/>
          <p:cNvSpPr/>
          <p:nvPr/>
        </p:nvSpPr>
        <p:spPr>
          <a:xfrm>
            <a:off x="781812" y="539953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3035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2244852" y="613105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619048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4256532" y="521665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50749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017520"/>
            <a:ext cx="5897880" cy="315468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0" y="286207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VÍ DỤ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3218688"/>
            <a:ext cx="5568696" cy="2880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Trong mặt phẳng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(SAB)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nếu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M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lần lượt là trung điểm của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SA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thì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MN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là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đường trung bình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của tam giác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SAB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 i="1">
                <a:solidFill>
                  <a:srgbClr val="DC2626"/>
                </a:solidFill>
                <a:latin typeface="Times New Roman"/>
              </a:rPr>
              <a:t>MN // AB   và   MN = ½ AB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→ Các định lí Pythagore, Thalès, định lí về đường trung bình, tam giác đồng dạng… đều được dùng trong từng mặt phẳng của hình không gian.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5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2. CÁC TÍNH CHẤT THỪA NHẬN · 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Giải đáp câu hỏi 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19" y="1417320"/>
            <a:ext cx="4297679" cy="289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03_tri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206240" cy="2804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19" y="43891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04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2606040" cy="17373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0" y="1508760"/>
            <a:ext cx="6537960" cy="237744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TÍNH CHẤT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1" y="1709928"/>
            <a:ext cx="6208776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Giá ba chân: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ba đầu chân là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ba điểm không thẳng hàng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nên theo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Tính chất 2</a:t>
            </a:r>
            <a:r>
              <a:rPr sz="1700" b="0" i="0">
                <a:solidFill>
                  <a:srgbClr val="1F2937"/>
                </a:solidFill>
                <a:latin typeface="Arial"/>
              </a:rPr>
              <a:t>, luôn có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đúng một mặt phẳng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đi qua chúng.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→ Dù mặt đất gồ ghề, ba chân luôn chạm đất cùng lúc: giá đứng vững.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206240"/>
            <a:ext cx="6537960" cy="201168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0" y="4050791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TÍNH CHẤT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1" y="4407407"/>
            <a:ext cx="6208776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Bàn bốn chân: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theo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Tính chất 4</a:t>
            </a:r>
            <a:r>
              <a:rPr sz="1700" b="0" i="0">
                <a:solidFill>
                  <a:srgbClr val="1F2937"/>
                </a:solidFill>
                <a:latin typeface="Arial"/>
              </a:rPr>
              <a:t>, bốn đầu chân bàn có thể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không đồng phẳng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(do chân lệch, sàn không phẳng).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Arial"/>
              </a:rPr>
              <a:t>→ Chỉ ba chân chạm sàn, chân còn lại bị hở: bàn bị kênh.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5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5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3. CÁCH XÁC ĐỊNH MỘT MẶT PHẲNG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Ba cách xác định một mặt phẳng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548640"/>
          </a:xfrm>
          <a:prstGeom prst="roundRect">
            <a:avLst>
              <a:gd name="adj" fmla="val 3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Cách 1</a:t>
            </a:r>
          </a:p>
        </p:txBody>
      </p:sp>
      <p:sp>
        <p:nvSpPr>
          <p:cNvPr id="11" name="Freeform 10"/>
          <p:cNvSpPr/>
          <p:nvPr/>
        </p:nvSpPr>
        <p:spPr>
          <a:xfrm>
            <a:off x="685800" y="2454249"/>
            <a:ext cx="3102559" cy="1355141"/>
          </a:xfrm>
          <a:custGeom>
            <a:avLst/>
            <a:gdLst/>
            <a:ahLst/>
            <a:cxnLst/>
            <a:rect l="l" t="t" r="r" b="b"/>
            <a:pathLst>
              <a:path w="3102559" h="1355141">
                <a:moveTo>
                  <a:pt x="677570" y="0"/>
                </a:moveTo>
                <a:lnTo>
                  <a:pt x="3102559" y="0"/>
                </a:lnTo>
                <a:lnTo>
                  <a:pt x="2424988" y="1355141"/>
                </a:lnTo>
                <a:lnTo>
                  <a:pt x="0" y="1355141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5692" y="2471074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571853" y="2805379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8681" y="2499055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1357884" y="3518611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376879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3069640" y="3161995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9076" y="2855671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Qua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ba điểm không thẳng hàng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1">
                <a:solidFill>
                  <a:srgbClr val="1E3A8A"/>
                </a:solidFill>
                <a:latin typeface="Times New Roman"/>
              </a:rPr>
              <a:t>mp(ABC)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25112" y="1463040"/>
            <a:ext cx="3566160" cy="54864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Cách 2</a:t>
            </a:r>
          </a:p>
        </p:txBody>
      </p:sp>
      <p:sp>
        <p:nvSpPr>
          <p:cNvPr id="23" name="Freeform 22"/>
          <p:cNvSpPr/>
          <p:nvPr/>
        </p:nvSpPr>
        <p:spPr>
          <a:xfrm>
            <a:off x="4462272" y="2454249"/>
            <a:ext cx="3102559" cy="1355141"/>
          </a:xfrm>
          <a:custGeom>
            <a:avLst/>
            <a:gdLst/>
            <a:ahLst/>
            <a:cxnLst/>
            <a:rect l="l" t="t" r="r" b="b"/>
            <a:pathLst>
              <a:path w="3102559" h="1355141">
                <a:moveTo>
                  <a:pt x="677570" y="0"/>
                </a:moveTo>
                <a:lnTo>
                  <a:pt x="3102559" y="0"/>
                </a:lnTo>
                <a:lnTo>
                  <a:pt x="2424988" y="1355141"/>
                </a:lnTo>
                <a:lnTo>
                  <a:pt x="0" y="1355141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2164" y="2471074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783226" y="2924982"/>
            <a:ext cx="2353666" cy="627644"/>
          </a:xfrm>
          <a:prstGeom prst="line">
            <a:avLst/>
          </a:prstGeom>
          <a:ln w="317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50938" y="2556662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5633618" y="2734056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446" y="242773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20624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Qua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một đường thẳng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một điểm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không thuộc đường thẳng đó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53212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1">
                <a:solidFill>
                  <a:srgbClr val="059669"/>
                </a:solidFill>
                <a:latin typeface="Times New Roman"/>
              </a:rPr>
              <a:t>mp(M, a)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01583" y="1463040"/>
            <a:ext cx="3566160" cy="5486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Cách 3</a:t>
            </a:r>
          </a:p>
        </p:txBody>
      </p:sp>
      <p:sp>
        <p:nvSpPr>
          <p:cNvPr id="33" name="Freeform 32"/>
          <p:cNvSpPr/>
          <p:nvPr/>
        </p:nvSpPr>
        <p:spPr>
          <a:xfrm>
            <a:off x="8238744" y="2454249"/>
            <a:ext cx="3102559" cy="1355141"/>
          </a:xfrm>
          <a:custGeom>
            <a:avLst/>
            <a:gdLst/>
            <a:ahLst/>
            <a:cxnLst/>
            <a:rect l="l" t="t" r="r" b="b"/>
            <a:pathLst>
              <a:path w="3102559" h="1355141">
                <a:moveTo>
                  <a:pt x="677570" y="0"/>
                </a:moveTo>
                <a:lnTo>
                  <a:pt x="3102559" y="0"/>
                </a:lnTo>
                <a:lnTo>
                  <a:pt x="2424988" y="1355141"/>
                </a:lnTo>
                <a:lnTo>
                  <a:pt x="0" y="1355141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38636" y="2471074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738006" y="2646822"/>
            <a:ext cx="2032711" cy="948598"/>
          </a:xfrm>
          <a:prstGeom prst="line">
            <a:avLst/>
          </a:prstGeom>
          <a:ln w="317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65945" y="2632557"/>
            <a:ext cx="1348009" cy="973562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402421" y="3483863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2378354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059669"/>
                </a:solidFill>
                <a:latin typeface="Times New Roman"/>
              </a:rPr>
              <a:t>b</a:t>
            </a:r>
          </a:p>
        </p:txBody>
      </p:sp>
      <p:sp>
        <p:nvSpPr>
          <p:cNvPr id="39" name="Oval 38"/>
          <p:cNvSpPr/>
          <p:nvPr/>
        </p:nvSpPr>
        <p:spPr>
          <a:xfrm>
            <a:off x="9766706" y="3055010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9254" y="305043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3" y="4206240"/>
            <a:ext cx="3200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Qua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hai đường thẳng cắt nhau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3" y="5532120"/>
            <a:ext cx="3200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1">
                <a:solidFill>
                  <a:srgbClr val="7C3AED"/>
                </a:solidFill>
                <a:latin typeface="Times New Roman"/>
              </a:rPr>
              <a:t>mp(a, b)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" dur="5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" dur="5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" dur="5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2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0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4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8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2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6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0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4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6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0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4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8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2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6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0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4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8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2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9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6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8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2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6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0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4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8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2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3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4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6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7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8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0" dur="5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2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4" dur="50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5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6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8" dur="5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0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2" dur="5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3. CÁCH XÁC ĐỊNH MỘT MẶT PHẲNG · DẠNG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Tìm giao tuyến của hai mặt phẳng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1EBFD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PHƯƠNG PHÁP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4791455" cy="18287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Tìm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hai điểm chung phân biệt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M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của hai mặt phẳng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(Q)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1">
                <a:solidFill>
                  <a:srgbClr val="7C3AED"/>
                </a:solidFill>
                <a:latin typeface="Times New Roman"/>
              </a:rPr>
              <a:t>⇒  (P) ∩ (Q) = MN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Mẹo: điểm chung thường là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đỉnh chung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hoặc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giao điểm của hai đường thẳng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lần lượt nằm trong hai mặt phẳng (và cùng nằm trong một mặt phẳng thứ ba).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730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87368"/>
            <a:ext cx="479145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Ví dụ 1.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Cho hình chóp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S.ABCD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có đáy là tứ giác lồi,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cắt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BD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tại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O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 Tìm giao tuyến của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(SAC)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(SBD)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4718304"/>
            <a:ext cx="1188720" cy="1069848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589520" y="5550408"/>
            <a:ext cx="3328416" cy="237744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00800" y="4480560"/>
            <a:ext cx="3447288" cy="237744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48088" y="4480560"/>
            <a:ext cx="1069848" cy="1069848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400800" y="1508760"/>
            <a:ext cx="1901952" cy="3209544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589520" y="1508760"/>
            <a:ext cx="713232" cy="427939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02752" y="1508760"/>
            <a:ext cx="2615184" cy="4041648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02752" y="1508760"/>
            <a:ext cx="1545336" cy="297180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61604" y="146761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109728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S</a:t>
            </a:r>
          </a:p>
        </p:txBody>
      </p:sp>
      <p:sp>
        <p:nvSpPr>
          <p:cNvPr id="25" name="Oval 24"/>
          <p:cNvSpPr/>
          <p:nvPr/>
        </p:nvSpPr>
        <p:spPr>
          <a:xfrm>
            <a:off x="6359652" y="4677156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4535424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7548372" y="5747004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78815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10876788" y="5509260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7936" y="550468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9806940" y="443941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3808" y="409651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D</a:t>
            </a:r>
          </a:p>
        </p:txBody>
      </p:sp>
      <p:sp>
        <p:nvSpPr>
          <p:cNvPr id="33" name="Freeform 32"/>
          <p:cNvSpPr/>
          <p:nvPr/>
        </p:nvSpPr>
        <p:spPr>
          <a:xfrm>
            <a:off x="6400800" y="1508760"/>
            <a:ext cx="4517136" cy="4041648"/>
          </a:xfrm>
          <a:custGeom>
            <a:avLst/>
            <a:gdLst/>
            <a:ahLst/>
            <a:cxnLst/>
            <a:rect l="l" t="t" r="r" b="b"/>
            <a:pathLst>
              <a:path w="4517136" h="4041648">
                <a:moveTo>
                  <a:pt x="1901952" y="0"/>
                </a:moveTo>
                <a:lnTo>
                  <a:pt x="0" y="3209544"/>
                </a:lnTo>
                <a:lnTo>
                  <a:pt x="4517136" y="4041648"/>
                </a:lnTo>
                <a:close/>
              </a:path>
            </a:pathLst>
          </a:custGeom>
          <a:solidFill>
            <a:srgbClr val="60A5F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400800" y="4718304"/>
            <a:ext cx="4517136" cy="832104"/>
          </a:xfrm>
          <a:prstGeom prst="line">
            <a:avLst/>
          </a:prstGeom>
          <a:ln w="22225">
            <a:solidFill>
              <a:srgbClr val="1E3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7589520" y="1508760"/>
            <a:ext cx="2258568" cy="4279392"/>
          </a:xfrm>
          <a:custGeom>
            <a:avLst/>
            <a:gdLst/>
            <a:ahLst/>
            <a:cxnLst/>
            <a:rect l="l" t="t" r="r" b="b"/>
            <a:pathLst>
              <a:path w="2258568" h="4279392">
                <a:moveTo>
                  <a:pt x="713232" y="0"/>
                </a:moveTo>
                <a:lnTo>
                  <a:pt x="0" y="4279392"/>
                </a:lnTo>
                <a:lnTo>
                  <a:pt x="2258568" y="2971800"/>
                </a:lnTo>
                <a:close/>
              </a:path>
            </a:pathLst>
          </a:custGeom>
          <a:solidFill>
            <a:srgbClr val="FBBF2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7589520" y="4480560"/>
            <a:ext cx="2258568" cy="1307592"/>
          </a:xfrm>
          <a:prstGeom prst="line">
            <a:avLst/>
          </a:prstGeom>
          <a:ln w="22225">
            <a:solidFill>
              <a:srgbClr val="EA58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663309" y="5101513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8737" y="5096941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02752" y="1508760"/>
            <a:ext cx="401705" cy="3633901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48640" y="5349240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519379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550407"/>
            <a:ext cx="4791455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 i="1">
                <a:solidFill>
                  <a:srgbClr val="1F2937"/>
                </a:solidFill>
                <a:latin typeface="Times New Roman"/>
              </a:rPr>
              <a:t>S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O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là hai điểm chung ⇒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(SAC) ∩ (SBD) = SO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5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9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1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9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3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7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1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7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1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7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1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7" dur="5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1" dur="50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5" dur="5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9" dur="5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3. CÁCH XÁC ĐỊNH MỘT MẶT PHẲNG · DẠNG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Ví dụ 2: Tìm giao tuyến bằng cách kéo dài hai đường thẳng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VÍ DỤ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479145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Cho hình chóp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S.ABCD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có đáy là tứ giác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với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không song song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 Tìm giao tuyến của hai mặt phẳng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(SAB)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(SCD)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3941063"/>
            <a:ext cx="1619402" cy="515265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020202" y="4361688"/>
            <a:ext cx="1745590" cy="946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00800" y="3835907"/>
            <a:ext cx="2734056" cy="105156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34856" y="3835907"/>
            <a:ext cx="630936" cy="525781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400800" y="1312164"/>
            <a:ext cx="1261871" cy="2628899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62671" y="1312164"/>
            <a:ext cx="357531" cy="3144164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62671" y="1312164"/>
            <a:ext cx="2103121" cy="3049524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62671" y="1312164"/>
            <a:ext cx="1472185" cy="2523743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621523" y="1271016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1" y="900684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S</a:t>
            </a:r>
          </a:p>
        </p:txBody>
      </p:sp>
      <p:sp>
        <p:nvSpPr>
          <p:cNvPr id="22" name="Oval 21"/>
          <p:cNvSpPr/>
          <p:nvPr/>
        </p:nvSpPr>
        <p:spPr>
          <a:xfrm>
            <a:off x="6359652" y="3899915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758183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7979054" y="4415180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0162" y="445632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9724644" y="4320540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434340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9093708" y="3794759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3424427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D</a:t>
            </a:r>
          </a:p>
        </p:txBody>
      </p:sp>
      <p:sp>
        <p:nvSpPr>
          <p:cNvPr id="30" name="Freeform 29"/>
          <p:cNvSpPr/>
          <p:nvPr/>
        </p:nvSpPr>
        <p:spPr>
          <a:xfrm>
            <a:off x="6400800" y="1312164"/>
            <a:ext cx="1619402" cy="3144164"/>
          </a:xfrm>
          <a:custGeom>
            <a:avLst/>
            <a:gdLst/>
            <a:ahLst/>
            <a:cxnLst/>
            <a:rect l="l" t="t" r="r" b="b"/>
            <a:pathLst>
              <a:path w="1619402" h="3144164">
                <a:moveTo>
                  <a:pt x="1261871" y="0"/>
                </a:moveTo>
                <a:lnTo>
                  <a:pt x="0" y="2628899"/>
                </a:lnTo>
                <a:lnTo>
                  <a:pt x="1619402" y="3144164"/>
                </a:lnTo>
                <a:close/>
              </a:path>
            </a:pathLst>
          </a:custGeom>
          <a:solidFill>
            <a:srgbClr val="60A5F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662671" y="1312164"/>
            <a:ext cx="2103121" cy="3049524"/>
          </a:xfrm>
          <a:custGeom>
            <a:avLst/>
            <a:gdLst/>
            <a:ahLst/>
            <a:cxnLst/>
            <a:rect l="l" t="t" r="r" b="b"/>
            <a:pathLst>
              <a:path w="2103121" h="3049524">
                <a:moveTo>
                  <a:pt x="0" y="0"/>
                </a:moveTo>
                <a:lnTo>
                  <a:pt x="2103121" y="3049524"/>
                </a:lnTo>
                <a:lnTo>
                  <a:pt x="1472185" y="2523743"/>
                </a:lnTo>
                <a:close/>
              </a:path>
            </a:pathLst>
          </a:custGeom>
          <a:solidFill>
            <a:srgbClr val="FBBF2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020202" y="4456328"/>
            <a:ext cx="3007461" cy="956919"/>
          </a:xfrm>
          <a:prstGeom prst="line">
            <a:avLst/>
          </a:prstGeom>
          <a:ln w="22225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65792" y="4361688"/>
            <a:ext cx="1261871" cy="1051559"/>
          </a:xfrm>
          <a:prstGeom prst="line">
            <a:avLst/>
          </a:prstGeom>
          <a:ln w="22225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986515" y="5372099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27663" y="5321807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62671" y="1312164"/>
            <a:ext cx="3364992" cy="4101083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48640" y="329184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313639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3493008"/>
            <a:ext cx="4791455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•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là điểm chung thứ nhất của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(SAB)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(SCD)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• Trong mặt phẳng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(ABCD)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kéo dài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cắt nhau tại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E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  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E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∈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⊂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(SAB)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E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∈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⊂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(SCD)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⇒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E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là điểm chung thứ hai.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 i="1">
                <a:solidFill>
                  <a:srgbClr val="DC2626"/>
                </a:solidFill>
                <a:latin typeface="Times New Roman"/>
              </a:rPr>
              <a:t>Vậy (SAB) ∩ (SCD) = 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5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9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3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5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7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1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5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5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5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3. CÁCH XÁC ĐỊNH MỘT MẶT PHẲNG · DẠNG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Tìm giao điểm của đường thẳng và mặt phẳng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F1EBFD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PHƯƠNG PHÁP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5157216" cy="3383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Để tìm giao điểm của đường thẳng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và mặt phẳng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Cách 1.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Nếu trong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có sẵn đường thẳng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Δ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cắt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tại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I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thì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I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Cách 2.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 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Bước 1: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Chọn mặt phẳng phụ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(Q)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chứa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 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Bước 2: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Tìm giao tuyến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Δ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(Q)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 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Bước 3: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Trong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(Q)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gọi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I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Δ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 Khi đó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I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492240" y="3639312"/>
            <a:ext cx="5029200" cy="1207008"/>
          </a:xfrm>
          <a:custGeom>
            <a:avLst/>
            <a:gdLst/>
            <a:ahLst/>
            <a:cxnLst/>
            <a:rect l="l" t="t" r="r" b="b"/>
            <a:pathLst>
              <a:path w="5029200" h="1207008">
                <a:moveTo>
                  <a:pt x="0" y="1207008"/>
                </a:moveTo>
                <a:lnTo>
                  <a:pt x="3822192" y="1207008"/>
                </a:lnTo>
                <a:lnTo>
                  <a:pt x="5029200" y="0"/>
                </a:lnTo>
                <a:lnTo>
                  <a:pt x="1207008" y="0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75704" y="4411980"/>
            <a:ext cx="640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E3A8A"/>
                </a:solidFill>
                <a:latin typeface="Times New Roman"/>
              </a:rPr>
              <a:t>(P)</a:t>
            </a:r>
          </a:p>
        </p:txBody>
      </p:sp>
      <p:sp>
        <p:nvSpPr>
          <p:cNvPr id="14" name="Freeform 13"/>
          <p:cNvSpPr/>
          <p:nvPr/>
        </p:nvSpPr>
        <p:spPr>
          <a:xfrm>
            <a:off x="7900416" y="1527048"/>
            <a:ext cx="2212848" cy="2715768"/>
          </a:xfrm>
          <a:custGeom>
            <a:avLst/>
            <a:gdLst/>
            <a:ahLst/>
            <a:cxnLst/>
            <a:rect l="l" t="t" r="r" b="b"/>
            <a:pathLst>
              <a:path w="2212848" h="2715768">
                <a:moveTo>
                  <a:pt x="0" y="0"/>
                </a:moveTo>
                <a:lnTo>
                  <a:pt x="2212848" y="0"/>
                </a:lnTo>
                <a:lnTo>
                  <a:pt x="2212848" y="2715768"/>
                </a:lnTo>
                <a:lnTo>
                  <a:pt x="0" y="2715768"/>
                </a:lnTo>
                <a:close/>
              </a:path>
            </a:pathLst>
          </a:custGeom>
          <a:solidFill>
            <a:srgbClr val="FBBF24">
              <a:alpha val="35000"/>
            </a:srgbClr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1180" y="1595628"/>
            <a:ext cx="640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EA580C"/>
                </a:solidFill>
                <a:latin typeface="Times New Roman"/>
              </a:rPr>
              <a:t>(Q)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03336" y="1929384"/>
            <a:ext cx="603504" cy="2313432"/>
          </a:xfrm>
          <a:prstGeom prst="line">
            <a:avLst/>
          </a:prstGeom>
          <a:ln w="3492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06840" y="4242816"/>
            <a:ext cx="251460" cy="905256"/>
          </a:xfrm>
          <a:prstGeom prst="line">
            <a:avLst/>
          </a:prstGeom>
          <a:ln w="28575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73567" y="1696212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1">
                <a:solidFill>
                  <a:srgbClr val="DC2626"/>
                </a:solidFill>
                <a:latin typeface="Times New Roman"/>
              </a:rPr>
              <a:t>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47204" y="4242816"/>
            <a:ext cx="3319272" cy="0"/>
          </a:xfrm>
          <a:prstGeom prst="line">
            <a:avLst/>
          </a:prstGeom>
          <a:ln w="34925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639044" y="3808476"/>
            <a:ext cx="457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 i="1">
                <a:solidFill>
                  <a:srgbClr val="7C3AED"/>
                </a:solidFill>
                <a:latin typeface="Times New Roman"/>
              </a:rPr>
              <a:t>Δ</a:t>
            </a:r>
          </a:p>
        </p:txBody>
      </p:sp>
      <p:sp>
        <p:nvSpPr>
          <p:cNvPr id="21" name="Oval 20"/>
          <p:cNvSpPr/>
          <p:nvPr/>
        </p:nvSpPr>
        <p:spPr>
          <a:xfrm>
            <a:off x="8965692" y="4201668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4197096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CEEE6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28523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CHÚ 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641848"/>
            <a:ext cx="515721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Mặt phẳng phụ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(Q)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nên chọn sao cho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dễ tìm giao tuyến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với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(P)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3. CÁCH XÁC ĐỊNH MỘT MẶT PHẲNG · DẠNG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Ví dụ 3: Giao điểm của đường thẳng và mặt phẳng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303520" cy="150876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VÍ DỤ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4974336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Cho tứ diện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 Gọi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M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là trung điểm của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là điểm trên cạnh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sao cho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= 2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NC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 Tìm giao điểm của đường thẳng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MN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với mặt phẳng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(BCD)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583680" y="1371600"/>
            <a:ext cx="1580083" cy="2765145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966252" y="1371600"/>
            <a:ext cx="197511" cy="3555187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63763" y="1371600"/>
            <a:ext cx="1975104" cy="266639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4136745"/>
            <a:ext cx="1382572" cy="79004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66252" y="4037990"/>
            <a:ext cx="2172615" cy="888797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83680" y="4037990"/>
            <a:ext cx="3555187" cy="98755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122615" y="133045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9443" y="9601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6542532" y="4095597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999585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7925104" y="4885639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6212" y="4926787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10097719" y="399684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84587" y="385511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73721" y="2754172"/>
            <a:ext cx="658368" cy="987552"/>
          </a:xfrm>
          <a:prstGeom prst="line">
            <a:avLst/>
          </a:prstGeom>
          <a:ln w="317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332573" y="2713024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0801" y="247985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M</a:t>
            </a:r>
          </a:p>
        </p:txBody>
      </p:sp>
      <p:sp>
        <p:nvSpPr>
          <p:cNvPr id="29" name="Oval 28"/>
          <p:cNvSpPr/>
          <p:nvPr/>
        </p:nvSpPr>
        <p:spPr>
          <a:xfrm>
            <a:off x="7990941" y="3700576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0377" y="3421684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N</a:t>
            </a:r>
          </a:p>
        </p:txBody>
      </p:sp>
      <p:sp>
        <p:nvSpPr>
          <p:cNvPr id="31" name="Freeform 30"/>
          <p:cNvSpPr/>
          <p:nvPr/>
        </p:nvSpPr>
        <p:spPr>
          <a:xfrm>
            <a:off x="6583680" y="1371600"/>
            <a:ext cx="1580083" cy="3555187"/>
          </a:xfrm>
          <a:custGeom>
            <a:avLst/>
            <a:gdLst/>
            <a:ahLst/>
            <a:cxnLst/>
            <a:rect l="l" t="t" r="r" b="b"/>
            <a:pathLst>
              <a:path w="1580083" h="3555187">
                <a:moveTo>
                  <a:pt x="1580083" y="0"/>
                </a:moveTo>
                <a:lnTo>
                  <a:pt x="0" y="2765145"/>
                </a:lnTo>
                <a:lnTo>
                  <a:pt x="1382572" y="3555187"/>
                </a:lnTo>
                <a:close/>
              </a:path>
            </a:pathLst>
          </a:custGeom>
          <a:solidFill>
            <a:srgbClr val="FBBF24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032089" y="3741724"/>
            <a:ext cx="1316736" cy="1975104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66252" y="4926787"/>
            <a:ext cx="1382573" cy="790041"/>
          </a:xfrm>
          <a:prstGeom prst="line">
            <a:avLst/>
          </a:prstGeom>
          <a:ln w="254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307677" y="5675680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8825" y="562538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291840"/>
            <a:ext cx="5303520" cy="292608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313639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3493008"/>
            <a:ext cx="4974336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•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MN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nằm trong mặt phẳng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(ABC)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•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(ABC)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(BCD)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BC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• Vì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AM</a:t>
            </a:r>
            <a:r>
              <a:rPr sz="1500" b="0" i="0">
                <a:solidFill>
                  <a:srgbClr val="1F2937"/>
                </a:solidFill>
                <a:latin typeface="Arial"/>
              </a:rPr>
              <a:t>/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= 1/2 ≠ 2/3 =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/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nên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MN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không song song với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BC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; trong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(ABC)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MN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cắt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BC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tại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K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•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K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∈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MN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K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∈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BC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⊂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(BCD)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 i="1">
                <a:solidFill>
                  <a:srgbClr val="DC2626"/>
                </a:solidFill>
                <a:latin typeface="Times New Roman"/>
              </a:rPr>
              <a:t>Vậy K = MN ∩ (BCD)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9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3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5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7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1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5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3. CÁCH XÁC ĐỊNH MỘT MẶT PHẲNG · DẠNG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Ví dụ 4: Dùng mặt phẳng phụ để tìm giao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VÍ DỤ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497433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Cho hình chóp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S.ABCD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có đáy là hình bình hành tâm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O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 Gọi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M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là trung điểm của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 Tìm giao điểm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I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của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AM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với mặt phẳng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(SBD)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4434840"/>
            <a:ext cx="1028700" cy="102870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29500" y="5463540"/>
            <a:ext cx="3086100" cy="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4434840"/>
            <a:ext cx="3086100" cy="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86900" y="4434840"/>
            <a:ext cx="1028700" cy="102870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400800" y="1463040"/>
            <a:ext cx="1714500" cy="297180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429500" y="1463040"/>
            <a:ext cx="685800" cy="400050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15300" y="1463040"/>
            <a:ext cx="2400300" cy="400050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15300" y="1463040"/>
            <a:ext cx="1371600" cy="297180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4434840"/>
            <a:ext cx="4114800" cy="1028700"/>
          </a:xfrm>
          <a:prstGeom prst="line">
            <a:avLst/>
          </a:prstGeom>
          <a:ln w="15875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29500" y="4434840"/>
            <a:ext cx="2057400" cy="1028700"/>
          </a:xfrm>
          <a:prstGeom prst="line">
            <a:avLst/>
          </a:prstGeom>
          <a:ln w="15875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074152" y="14218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0979" y="105156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S</a:t>
            </a:r>
          </a:p>
        </p:txBody>
      </p:sp>
      <p:sp>
        <p:nvSpPr>
          <p:cNvPr id="24" name="Oval 23"/>
          <p:cNvSpPr/>
          <p:nvPr/>
        </p:nvSpPr>
        <p:spPr>
          <a:xfrm>
            <a:off x="6359652" y="43936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251959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7388352" y="54223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9460" y="54635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10474452" y="54223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541782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9445752" y="43936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32620" y="4050791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D</a:t>
            </a:r>
          </a:p>
        </p:txBody>
      </p:sp>
      <p:sp>
        <p:nvSpPr>
          <p:cNvPr id="32" name="Oval 31"/>
          <p:cNvSpPr/>
          <p:nvPr/>
        </p:nvSpPr>
        <p:spPr>
          <a:xfrm>
            <a:off x="8417052" y="490804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94919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O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400800" y="3463290"/>
            <a:ext cx="2914650" cy="971550"/>
          </a:xfrm>
          <a:prstGeom prst="line">
            <a:avLst/>
          </a:prstGeom>
          <a:ln w="28575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274302" y="3422142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33738" y="318897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M</a:t>
            </a:r>
          </a:p>
        </p:txBody>
      </p:sp>
      <p:sp>
        <p:nvSpPr>
          <p:cNvPr id="37" name="Freeform 36"/>
          <p:cNvSpPr/>
          <p:nvPr/>
        </p:nvSpPr>
        <p:spPr>
          <a:xfrm>
            <a:off x="6400800" y="1463040"/>
            <a:ext cx="4114800" cy="4000500"/>
          </a:xfrm>
          <a:custGeom>
            <a:avLst/>
            <a:gdLst/>
            <a:ahLst/>
            <a:cxnLst/>
            <a:rect l="l" t="t" r="r" b="b"/>
            <a:pathLst>
              <a:path w="4114800" h="4000500">
                <a:moveTo>
                  <a:pt x="1714500" y="0"/>
                </a:moveTo>
                <a:lnTo>
                  <a:pt x="0" y="2971800"/>
                </a:lnTo>
                <a:lnTo>
                  <a:pt x="4114800" y="4000500"/>
                </a:lnTo>
                <a:close/>
              </a:path>
            </a:pathLst>
          </a:custGeom>
          <a:solidFill>
            <a:srgbClr val="60A5F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115300" y="1463040"/>
            <a:ext cx="342900" cy="3486150"/>
          </a:xfrm>
          <a:prstGeom prst="line">
            <a:avLst/>
          </a:prstGeom>
          <a:ln w="3175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302752" y="3745992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23860" y="340309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246120"/>
            <a:ext cx="5303520" cy="297180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520" y="309067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3447288"/>
            <a:ext cx="4974336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• Chọn mặt phẳng phụ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(SAC)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chứa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AM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•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(SAC)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(SBD)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SO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(Ví dụ 1).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• Trong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(SAC)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gọi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I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AM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SO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•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I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∈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SO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⊂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(SBD)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⇒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I = AM ∩ (SBD)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Nhận xét: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AM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SO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là hai trung tuyến của tam giác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SAC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nên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I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là trọng tâm,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SI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= ⅔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SO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5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9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7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3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5" dur="5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50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3" dur="5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7" dur="5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1" dur="50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3. CÁCH XÁC ĐỊNH MỘT MẶT PHẲNG · DẠNG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Chứng minh ba điểm thẳng hàng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1EBFD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PHƯƠNG PHÁP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4974336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Chứng minh ba điểm đó cùng thuộc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hai mặt phẳng phân biệt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⇒ chúng nằm trên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giao tuyến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của hai mặt phẳng ⇒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thẳng hàng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0449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01568"/>
            <a:ext cx="497433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Ví dụ 5.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Cho tứ diện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ABCD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;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M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P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lần lượt thuộc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 Gọi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E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MN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BC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F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NP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CD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=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MP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∩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BD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 Chứng minh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E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F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thẳng hàng.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263640" y="1463040"/>
            <a:ext cx="1530705" cy="2551176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624267" y="1463040"/>
            <a:ext cx="170078" cy="3316528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94345" y="1463040"/>
            <a:ext cx="1700784" cy="2466136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63640" y="4014216"/>
            <a:ext cx="1360627" cy="76535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624267" y="3929176"/>
            <a:ext cx="1870862" cy="85039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263640" y="3929176"/>
            <a:ext cx="3231489" cy="8504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53197" y="14218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0025" y="105156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6222492" y="3973068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3877056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25" name="Oval 24"/>
          <p:cNvSpPr/>
          <p:nvPr/>
        </p:nvSpPr>
        <p:spPr>
          <a:xfrm>
            <a:off x="7583119" y="4738420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4227" y="477956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9453981" y="3888028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3689" y="3929176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D</a:t>
            </a:r>
          </a:p>
        </p:txBody>
      </p:sp>
      <p:sp>
        <p:nvSpPr>
          <p:cNvPr id="29" name="Freeform 28"/>
          <p:cNvSpPr/>
          <p:nvPr/>
        </p:nvSpPr>
        <p:spPr>
          <a:xfrm>
            <a:off x="7335133" y="2228392"/>
            <a:ext cx="1734800" cy="1224565"/>
          </a:xfrm>
          <a:custGeom>
            <a:avLst/>
            <a:gdLst/>
            <a:ahLst/>
            <a:cxnLst/>
            <a:rect l="l" t="t" r="r" b="b"/>
            <a:pathLst>
              <a:path w="1734800" h="1224565">
                <a:moveTo>
                  <a:pt x="0" y="0"/>
                </a:moveTo>
                <a:lnTo>
                  <a:pt x="357165" y="1224565"/>
                </a:lnTo>
                <a:lnTo>
                  <a:pt x="1734800" y="1084250"/>
                </a:lnTo>
                <a:close/>
              </a:path>
            </a:pathLst>
          </a:custGeom>
          <a:solidFill>
            <a:srgbClr val="FBBF24">
              <a:alpha val="40000"/>
            </a:srgbClr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93985" y="2187244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2213" y="195407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M</a:t>
            </a:r>
          </a:p>
        </p:txBody>
      </p:sp>
      <p:sp>
        <p:nvSpPr>
          <p:cNvPr id="32" name="Oval 31"/>
          <p:cNvSpPr/>
          <p:nvPr/>
        </p:nvSpPr>
        <p:spPr>
          <a:xfrm>
            <a:off x="7651150" y="3411809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5098" y="3361517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N</a:t>
            </a:r>
          </a:p>
        </p:txBody>
      </p:sp>
      <p:sp>
        <p:nvSpPr>
          <p:cNvPr id="34" name="Oval 33"/>
          <p:cNvSpPr/>
          <p:nvPr/>
        </p:nvSpPr>
        <p:spPr>
          <a:xfrm>
            <a:off x="9028785" y="3271494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88221" y="299260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92298" y="3452957"/>
            <a:ext cx="476220" cy="1632752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24267" y="4779568"/>
            <a:ext cx="544251" cy="306141"/>
          </a:xfrm>
          <a:prstGeom prst="line">
            <a:avLst/>
          </a:prstGeom>
          <a:ln w="190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069933" y="3078784"/>
            <a:ext cx="2296059" cy="233858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495129" y="3078784"/>
            <a:ext cx="1870863" cy="850392"/>
          </a:xfrm>
          <a:prstGeom prst="line">
            <a:avLst/>
          </a:prstGeom>
          <a:ln w="190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69933" y="3312642"/>
            <a:ext cx="963778" cy="602361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495129" y="3915003"/>
            <a:ext cx="538582" cy="14173"/>
          </a:xfrm>
          <a:prstGeom prst="line">
            <a:avLst/>
          </a:prstGeom>
          <a:ln w="190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127370" y="5044561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4198" y="5085709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E</a:t>
            </a:r>
          </a:p>
        </p:txBody>
      </p:sp>
      <p:sp>
        <p:nvSpPr>
          <p:cNvPr id="44" name="Oval 43"/>
          <p:cNvSpPr/>
          <p:nvPr/>
        </p:nvSpPr>
        <p:spPr>
          <a:xfrm>
            <a:off x="11324844" y="3037636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84280" y="273131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F</a:t>
            </a:r>
          </a:p>
        </p:txBody>
      </p:sp>
      <p:sp>
        <p:nvSpPr>
          <p:cNvPr id="46" name="Oval 45"/>
          <p:cNvSpPr/>
          <p:nvPr/>
        </p:nvSpPr>
        <p:spPr>
          <a:xfrm>
            <a:off x="9992563" y="3873855"/>
            <a:ext cx="82296" cy="822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05111" y="3503523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DC2626"/>
                </a:solidFill>
                <a:latin typeface="Times New Roman"/>
              </a:rPr>
              <a:t>G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7912720" y="2918230"/>
            <a:ext cx="3709069" cy="2328033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892040"/>
            <a:ext cx="5303520" cy="1325880"/>
          </a:xfrm>
          <a:prstGeom prst="roundRect">
            <a:avLst>
              <a:gd name="adj" fmla="val 6000"/>
            </a:avLst>
          </a:prstGeom>
          <a:solidFill>
            <a:srgbClr val="E6F4F0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473659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5093207"/>
            <a:ext cx="4974336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1">
                <a:solidFill>
                  <a:srgbClr val="1F2937"/>
                </a:solidFill>
                <a:latin typeface="Times New Roman"/>
              </a:rPr>
              <a:t>E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F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vừa thuộc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(MNP)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vừa thuộc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(BCD)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⇒ cùng nằm trên giao tuyến của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(MNP)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(BCD)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⇒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thẳng hàng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5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9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1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7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1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5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1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5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3" dur="5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7" dur="50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1" dur="5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5" dur="5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9" dur="50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3" dur="50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7" dur="50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1" dur="50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5" dur="50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1" dur="50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5" dur="500"/>
                                              <p:tgtEl>
                                                <p:spTgt spid="4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9" dur="500"/>
                                              <p:tgtEl>
                                                <p:spTgt spid="5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8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3" dur="50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4. HÌNH CHÓP VÀ HÌNH TỨ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Hình chóp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852160" cy="224028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417319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ĐỊNH NGHĨA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5522976" cy="1965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Cho đa giác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A₁A₂…Aₙ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và điểm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không thuộc mặt phẳng chứa đa giác. Nối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với các đỉnh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A₁, A₂, …, Aₙ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ta được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tam giác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SA₁A₂, SA₂A₃, …, SAₙA₁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Hình gồm đa giác và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n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tam giác đó gọi là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hình chóp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kí hiệu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S.A₁A₂…Aₙ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949440" y="3881627"/>
            <a:ext cx="4206240" cy="1577340"/>
          </a:xfrm>
          <a:custGeom>
            <a:avLst/>
            <a:gdLst/>
            <a:ahLst/>
            <a:cxnLst/>
            <a:rect l="l" t="t" r="r" b="b"/>
            <a:pathLst>
              <a:path w="4206240" h="1577340">
                <a:moveTo>
                  <a:pt x="0" y="630937"/>
                </a:moveTo>
                <a:lnTo>
                  <a:pt x="1261872" y="1577340"/>
                </a:lnTo>
                <a:lnTo>
                  <a:pt x="3470148" y="1367029"/>
                </a:lnTo>
                <a:lnTo>
                  <a:pt x="4206240" y="420625"/>
                </a:lnTo>
                <a:lnTo>
                  <a:pt x="1997964" y="0"/>
                </a:lnTo>
                <a:close/>
              </a:path>
            </a:pathLst>
          </a:custGeom>
          <a:solidFill>
            <a:srgbClr val="34D39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949440" y="4512564"/>
            <a:ext cx="1261872" cy="946403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211312" y="5248656"/>
            <a:ext cx="2208276" cy="210311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419588" y="4302252"/>
            <a:ext cx="736092" cy="946404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8947404" y="3881627"/>
            <a:ext cx="2208276" cy="420625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949440" y="3881627"/>
            <a:ext cx="1997964" cy="630937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949440" y="1463040"/>
            <a:ext cx="2103119" cy="3049524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11312" y="1463040"/>
            <a:ext cx="841247" cy="3995927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59" y="1463040"/>
            <a:ext cx="1367029" cy="3785616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59" y="1463040"/>
            <a:ext cx="2103121" cy="283921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947404" y="1463040"/>
            <a:ext cx="105155" cy="2418587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011411" y="14218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9" y="105156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S</a:t>
            </a:r>
          </a:p>
        </p:txBody>
      </p:sp>
      <p:sp>
        <p:nvSpPr>
          <p:cNvPr id="25" name="Oval 24"/>
          <p:cNvSpPr/>
          <p:nvPr/>
        </p:nvSpPr>
        <p:spPr>
          <a:xfrm>
            <a:off x="6908292" y="4471416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29683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A₁</a:t>
            </a:r>
          </a:p>
        </p:txBody>
      </p:sp>
      <p:sp>
        <p:nvSpPr>
          <p:cNvPr id="27" name="Oval 26"/>
          <p:cNvSpPr/>
          <p:nvPr/>
        </p:nvSpPr>
        <p:spPr>
          <a:xfrm>
            <a:off x="8170164" y="5417819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2" y="5458967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A₂</a:t>
            </a:r>
          </a:p>
        </p:txBody>
      </p:sp>
      <p:sp>
        <p:nvSpPr>
          <p:cNvPr id="29" name="Oval 28"/>
          <p:cNvSpPr/>
          <p:nvPr/>
        </p:nvSpPr>
        <p:spPr>
          <a:xfrm>
            <a:off x="10378440" y="5207508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37876" y="5202936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A₃</a:t>
            </a:r>
          </a:p>
        </p:txBody>
      </p:sp>
      <p:sp>
        <p:nvSpPr>
          <p:cNvPr id="31" name="Oval 30"/>
          <p:cNvSpPr/>
          <p:nvPr/>
        </p:nvSpPr>
        <p:spPr>
          <a:xfrm>
            <a:off x="11114532" y="4261104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73967" y="4027932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A₄</a:t>
            </a:r>
          </a:p>
        </p:txBody>
      </p:sp>
      <p:sp>
        <p:nvSpPr>
          <p:cNvPr id="33" name="Oval 32"/>
          <p:cNvSpPr/>
          <p:nvPr/>
        </p:nvSpPr>
        <p:spPr>
          <a:xfrm>
            <a:off x="8906256" y="3840479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10244" y="3470147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A₅</a:t>
            </a:r>
          </a:p>
        </p:txBody>
      </p:sp>
      <p:sp>
        <p:nvSpPr>
          <p:cNvPr id="35" name="Freeform 34"/>
          <p:cNvSpPr/>
          <p:nvPr/>
        </p:nvSpPr>
        <p:spPr>
          <a:xfrm>
            <a:off x="8211312" y="1463040"/>
            <a:ext cx="2208276" cy="3995927"/>
          </a:xfrm>
          <a:custGeom>
            <a:avLst/>
            <a:gdLst/>
            <a:ahLst/>
            <a:cxnLst/>
            <a:rect l="l" t="t" r="r" b="b"/>
            <a:pathLst>
              <a:path w="2208276" h="3995927">
                <a:moveTo>
                  <a:pt x="841247" y="0"/>
                </a:moveTo>
                <a:lnTo>
                  <a:pt x="0" y="3995927"/>
                </a:lnTo>
                <a:lnTo>
                  <a:pt x="2208276" y="3785616"/>
                </a:lnTo>
                <a:close/>
              </a:path>
            </a:pathLst>
          </a:custGeom>
          <a:solidFill>
            <a:srgbClr val="FBBF2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977639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400"/>
              </a:spcAft>
              <a:buClr>
                <a:srgbClr val="059669"/>
              </a:buClr>
              <a:buFont typeface="Arial"/>
              <a:buChar char="●"/>
            </a:pPr>
            <a:r>
              <a:rPr sz="1600" b="1" i="0">
                <a:solidFill>
                  <a:srgbClr val="1F2937"/>
                </a:solidFill>
                <a:latin typeface="Arial"/>
              </a:rPr>
              <a:t>Đỉnh: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điểm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400"/>
              </a:spcAft>
              <a:buClr>
                <a:srgbClr val="059669"/>
              </a:buClr>
              <a:buFont typeface="Arial"/>
              <a:buChar char="●"/>
            </a:pPr>
            <a:r>
              <a:rPr sz="1600" b="1" i="0">
                <a:solidFill>
                  <a:srgbClr val="1F2937"/>
                </a:solidFill>
                <a:latin typeface="Arial"/>
              </a:rPr>
              <a:t>Mặt đáy: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đa giác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A₁A₂…Aₙ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400"/>
              </a:spcAft>
              <a:buClr>
                <a:srgbClr val="059669"/>
              </a:buClr>
              <a:buFont typeface="Arial"/>
              <a:buChar char="●"/>
            </a:pPr>
            <a:r>
              <a:rPr sz="1600" b="1" i="0">
                <a:solidFill>
                  <a:srgbClr val="1F2937"/>
                </a:solidFill>
                <a:latin typeface="Arial"/>
              </a:rPr>
              <a:t>Mặt bên: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các tam giác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SA₁A₂, SA₂A₃, …, SAₙA₁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400"/>
              </a:spcAft>
              <a:buClr>
                <a:srgbClr val="059669"/>
              </a:buClr>
              <a:buFont typeface="Arial"/>
              <a:buChar char="●"/>
            </a:pPr>
            <a:r>
              <a:rPr sz="1600" b="1" i="0">
                <a:solidFill>
                  <a:srgbClr val="1F2937"/>
                </a:solidFill>
                <a:latin typeface="Arial"/>
              </a:rPr>
              <a:t>Cạnh bên: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các đoạn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SA₁, SA₂, …, SAₙ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400"/>
              </a:spcAft>
              <a:buClr>
                <a:srgbClr val="059669"/>
              </a:buClr>
              <a:buFont typeface="Arial"/>
              <a:buChar char="●"/>
            </a:pPr>
            <a:r>
              <a:rPr sz="1600" b="1" i="0">
                <a:solidFill>
                  <a:srgbClr val="1F2937"/>
                </a:solidFill>
                <a:latin typeface="Arial"/>
              </a:rPr>
              <a:t>Cạnh đáy: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các cạnh của mặt đáy.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5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9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3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7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5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9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4. HÌNH CHÓP VÀ HÌNH TỨ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Gọi tên hình chóp theo đa giác đáy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423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777240" y="1691640"/>
            <a:ext cx="992124" cy="1587398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627631" y="1691640"/>
            <a:ext cx="141733" cy="20409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69364" y="1691640"/>
            <a:ext cx="935431" cy="1530705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" y="3279038"/>
            <a:ext cx="850391" cy="45354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27631" y="3222345"/>
            <a:ext cx="1077164" cy="510235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7240" y="3222345"/>
            <a:ext cx="1927555" cy="56693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977639"/>
            <a:ext cx="2423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E3A8A"/>
                </a:solidFill>
                <a:latin typeface="Arial"/>
              </a:rPr>
              <a:t>Hình chóp tam giác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1">
                <a:solidFill>
                  <a:srgbClr val="EA580C"/>
                </a:solidFill>
                <a:latin typeface="Times New Roman"/>
              </a:rPr>
              <a:t>S.ABC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1463040"/>
            <a:ext cx="2423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3383280" y="1691640"/>
            <a:ext cx="992124" cy="1587398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836822" y="1691640"/>
            <a:ext cx="538582" cy="20409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75404" y="1691640"/>
            <a:ext cx="935431" cy="20409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75404" y="1691640"/>
            <a:ext cx="481888" cy="1587398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83280" y="3279038"/>
            <a:ext cx="453542" cy="45354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36822" y="3732580"/>
            <a:ext cx="1474013" cy="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83280" y="3279038"/>
            <a:ext cx="1474012" cy="0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57292" y="3279038"/>
            <a:ext cx="453543" cy="453542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54680" y="3977639"/>
            <a:ext cx="2423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E3A8A"/>
                </a:solidFill>
                <a:latin typeface="Arial"/>
              </a:rPr>
              <a:t>Hình chóp tứ giác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1">
                <a:solidFill>
                  <a:srgbClr val="EA580C"/>
                </a:solidFill>
                <a:latin typeface="Times New Roman"/>
              </a:rPr>
              <a:t>S.ABCD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1463040"/>
            <a:ext cx="2423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5989320" y="1691640"/>
            <a:ext cx="992124" cy="1644091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499555" y="1691640"/>
            <a:ext cx="481889" cy="2097633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81444" y="1691640"/>
            <a:ext cx="595274" cy="204094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1444" y="1691640"/>
            <a:ext cx="935431" cy="1587398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953097" y="1691640"/>
            <a:ext cx="28347" cy="1360627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89320" y="3335731"/>
            <a:ext cx="510235" cy="45354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499555" y="3732580"/>
            <a:ext cx="1077163" cy="56693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576718" y="3279038"/>
            <a:ext cx="340157" cy="453542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6953097" y="3052267"/>
            <a:ext cx="963778" cy="226771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989320" y="3052267"/>
            <a:ext cx="963777" cy="283464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760720" y="3977639"/>
            <a:ext cx="2423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E3A8A"/>
                </a:solidFill>
                <a:latin typeface="Arial"/>
              </a:rPr>
              <a:t>Hình chóp ngũ giác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1">
                <a:solidFill>
                  <a:srgbClr val="EA580C"/>
                </a:solidFill>
                <a:latin typeface="Times New Roman"/>
              </a:rPr>
              <a:t>S.ABCDE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1417320"/>
            <a:ext cx="3291840" cy="2221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05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463040"/>
            <a:ext cx="3200400" cy="21305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12480" y="365760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EA580C"/>
                </a:solidFill>
                <a:latin typeface="Arial"/>
              </a:rPr>
              <a:t>▲ </a:t>
            </a:r>
            <a:r>
              <a:rPr sz="1300" b="0" i="1">
                <a:solidFill>
                  <a:srgbClr val="64748B"/>
                </a:solidFill>
                <a:latin typeface="Arial"/>
              </a:rPr>
              <a:t>Kim tự tháp: hình ảnh hình chóp tứ giác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074920"/>
            <a:ext cx="11109960" cy="1143000"/>
          </a:xfrm>
          <a:prstGeom prst="roundRect">
            <a:avLst>
              <a:gd name="adj" fmla="val 6000"/>
            </a:avLst>
          </a:prstGeom>
          <a:solidFill>
            <a:srgbClr val="FCEEE6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1520" y="491947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CHÚ 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276088"/>
            <a:ext cx="1078077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Hình chóp có đáy là tam giác, tứ giác, ngũ giác… lần lượt gọi là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hình chóp tam giác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hình chóp tứ giác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hình chóp ngũ giác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… Tên hình chóp gọi theo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tên đa giác đáy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"/>
                            </p:stCondLst>
                            <p:childTnLst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"/>
                            </p:stCondLst>
                            <p:childTnLst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"/>
                            </p:stCondLst>
                            <p:childTnLst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5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9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3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5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7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1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5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1" dur="5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5" dur="50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5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5" dur="5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9" dur="50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3" dur="50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4. HÌNH CHÓP VÀ HÌNH TỨ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Hình tứ diện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943600" cy="169164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417319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ĐỊNH NGHĨA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5614416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Cho bốn điểm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B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không đồng phẳng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 Hình gồm bốn tam giác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ABC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BCD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gọi là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hình tứ diện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(gọi tắt là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tứ diện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), kí hiệu </a:t>
            </a:r>
            <a:r>
              <a:rPr sz="1800" b="0" i="1">
                <a:solidFill>
                  <a:srgbClr val="1F2937"/>
                </a:solidFill>
                <a:latin typeface="Times New Roman"/>
              </a:rPr>
              <a:t>ABCD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223760" y="1463040"/>
            <a:ext cx="2103120" cy="3154680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221724" y="1463040"/>
            <a:ext cx="105156" cy="4206239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6880" y="1463040"/>
            <a:ext cx="2208275" cy="3049524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23760" y="4617720"/>
            <a:ext cx="1997964" cy="1051559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221724" y="4512564"/>
            <a:ext cx="2313431" cy="1156715"/>
          </a:xfrm>
          <a:prstGeom prst="line">
            <a:avLst/>
          </a:prstGeom>
          <a:ln w="28575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223760" y="4512564"/>
            <a:ext cx="4311395" cy="105156"/>
          </a:xfrm>
          <a:prstGeom prst="line">
            <a:avLst/>
          </a:prstGeom>
          <a:ln w="28575">
            <a:solidFill>
              <a:srgbClr val="1F29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285732" y="142189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105156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7182612" y="4576572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80559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9180576" y="5628131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7404" y="5669279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11494007" y="4471416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80876" y="4329683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 i="1">
                <a:solidFill>
                  <a:srgbClr val="1F2937"/>
                </a:solidFill>
                <a:latin typeface="Times New Roman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8328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300"/>
              </a:spcAft>
              <a:buClr>
                <a:srgbClr val="059669"/>
              </a:buClr>
              <a:buFont typeface="Arial"/>
              <a:buChar char="●"/>
            </a:pPr>
            <a:r>
              <a:rPr sz="1400" b="1" i="0">
                <a:solidFill>
                  <a:srgbClr val="1F2937"/>
                </a:solidFill>
                <a:latin typeface="Arial"/>
              </a:rPr>
              <a:t>4 đỉnh: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B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C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.   </a:t>
            </a:r>
            <a:r>
              <a:rPr sz="1400" b="1" i="0">
                <a:solidFill>
                  <a:srgbClr val="1F2937"/>
                </a:solidFill>
                <a:latin typeface="Arial"/>
              </a:rPr>
              <a:t>4 mặt: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các tam giác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ABC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ACD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ABD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BCD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300"/>
              </a:spcAft>
              <a:buClr>
                <a:srgbClr val="059669"/>
              </a:buClr>
              <a:buFont typeface="Arial"/>
              <a:buChar char="●"/>
            </a:pPr>
            <a:r>
              <a:rPr sz="1400" b="1" i="0">
                <a:solidFill>
                  <a:srgbClr val="1F2937"/>
                </a:solidFill>
                <a:latin typeface="Arial"/>
              </a:rPr>
              <a:t>6 cạnh: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AC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BC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CD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BD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300"/>
              </a:spcAft>
              <a:buClr>
                <a:srgbClr val="059669"/>
              </a:buClr>
              <a:buFont typeface="Arial"/>
              <a:buChar char="●"/>
            </a:pPr>
            <a:r>
              <a:rPr sz="1400" b="1" i="0">
                <a:solidFill>
                  <a:srgbClr val="1F2937"/>
                </a:solidFill>
                <a:latin typeface="Arial"/>
              </a:rPr>
              <a:t>Cạnh đối diện: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hai cạnh không có điểm chung, ví dụ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CD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AC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BD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AD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BC</a:t>
            </a:r>
            <a:r>
              <a:rPr sz="14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marL="274320" indent="-274320">
              <a:lnSpc>
                <a:spcPct val="110000"/>
              </a:lnSpc>
              <a:spcAft>
                <a:spcPts val="300"/>
              </a:spcAft>
              <a:buClr>
                <a:srgbClr val="059669"/>
              </a:buClr>
              <a:buFont typeface="Arial"/>
              <a:buChar char="●"/>
            </a:pPr>
            <a:r>
              <a:rPr sz="1400" b="1" i="0">
                <a:solidFill>
                  <a:srgbClr val="1F2937"/>
                </a:solidFill>
                <a:latin typeface="Arial"/>
              </a:rPr>
              <a:t>Đỉnh đối diện với mặt: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đỉnh không nằm trên mặt đó, ví dụ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A</a:t>
            </a:r>
            <a:r>
              <a:rPr sz="1400" b="0" i="0">
                <a:solidFill>
                  <a:srgbClr val="1F2937"/>
                </a:solidFill>
                <a:latin typeface="Arial"/>
              </a:rPr>
              <a:t> đối diện mặt </a:t>
            </a:r>
            <a:r>
              <a:rPr sz="1600" b="0" i="1">
                <a:solidFill>
                  <a:srgbClr val="1F2937"/>
                </a:solidFill>
                <a:latin typeface="Times New Roman"/>
              </a:rPr>
              <a:t>(BCD)</a:t>
            </a:r>
            <a:r>
              <a:rPr sz="14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223760" y="1463040"/>
            <a:ext cx="2103120" cy="3154680"/>
          </a:xfrm>
          <a:prstGeom prst="line">
            <a:avLst/>
          </a:prstGeom>
          <a:ln w="444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221724" y="4512564"/>
            <a:ext cx="2313431" cy="1156715"/>
          </a:xfrm>
          <a:prstGeom prst="line">
            <a:avLst/>
          </a:prstGeom>
          <a:ln w="444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5596128"/>
            <a:ext cx="5943600" cy="685800"/>
          </a:xfrm>
          <a:prstGeom prst="roundRect">
            <a:avLst>
              <a:gd name="adj" fmla="val 6000"/>
            </a:avLst>
          </a:prstGeom>
          <a:solidFill>
            <a:srgbClr val="FCEEE6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4406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CHÚ 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797296"/>
            <a:ext cx="5614416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Tứ diện có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bốn mặt là các tam giác đều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gọi là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tứ diện đều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32" name="Freeform 31"/>
          <p:cNvSpPr/>
          <p:nvPr/>
        </p:nvSpPr>
        <p:spPr>
          <a:xfrm>
            <a:off x="7223760" y="4512564"/>
            <a:ext cx="4311395" cy="1156715"/>
          </a:xfrm>
          <a:custGeom>
            <a:avLst/>
            <a:gdLst/>
            <a:ahLst/>
            <a:cxnLst/>
            <a:rect l="l" t="t" r="r" b="b"/>
            <a:pathLst>
              <a:path w="4311395" h="1156715">
                <a:moveTo>
                  <a:pt x="0" y="105156"/>
                </a:moveTo>
                <a:lnTo>
                  <a:pt x="1997964" y="1156715"/>
                </a:lnTo>
                <a:lnTo>
                  <a:pt x="4311395" y="0"/>
                </a:lnTo>
                <a:close/>
              </a:path>
            </a:pathLst>
          </a:custGeom>
          <a:solidFill>
            <a:srgbClr val="34D39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1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5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9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3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3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7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1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9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Sơ đồ tóm tắt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377440"/>
            <a:ext cx="3767328" cy="1389888"/>
          </a:xfrm>
          <a:prstGeom prst="line">
            <a:avLst/>
          </a:prstGeom>
          <a:ln w="317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141732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90472"/>
            <a:ext cx="3291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1E3A8A"/>
                </a:solidFill>
                <a:latin typeface="Arial"/>
              </a:rPr>
              <a:t>Khái niệm mở đầu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1E3A8A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Mặt phẳng (P), (α)…</a:t>
            </a:r>
          </a:p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1E3A8A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A ∈ (P), B ∉ (P)</a:t>
            </a:r>
          </a:p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1E3A8A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Quy tắc vẽ hình biểu diễn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099048" y="2377440"/>
            <a:ext cx="3776471" cy="1389888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92440" y="141732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90472"/>
            <a:ext cx="3291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059669"/>
                </a:solidFill>
                <a:latin typeface="Arial"/>
              </a:rPr>
              <a:t>6 tính chất thừa nhận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059669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TC2: 3 điểm không thẳng hàng → 1 mp</a:t>
            </a:r>
          </a:p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059669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TC3: d có 2 điểm ∈ (P) → d ⊂ (P)</a:t>
            </a:r>
          </a:p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059669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TC5: giao tuyến d = (P) ∩ (Q)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331720" y="3767328"/>
            <a:ext cx="3767328" cy="1399031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420624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3291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7C3AED"/>
                </a:solidFill>
                <a:latin typeface="Arial"/>
              </a:rPr>
              <a:t>Xác định mặt phẳng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09159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7C3AED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3 điểm · đường thẳng + điểm · 2 đường cắt nhau</a:t>
            </a:r>
          </a:p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7C3AED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Giao tuyến: tìm 2 điểm chung</a:t>
            </a:r>
          </a:p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7C3AED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Giao điểm: dùng mặt phẳng phụ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6099048" y="3767328"/>
            <a:ext cx="3776471" cy="1399031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92440" y="420624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279392"/>
            <a:ext cx="3291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EA580C"/>
                </a:solidFill>
                <a:latin typeface="Arial"/>
              </a:rPr>
              <a:t>Hình chóp, tứ diện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709159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EA580C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Đỉnh, mặt bên, cạnh bên, đáy</a:t>
            </a:r>
          </a:p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EA580C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Gọi tên theo đa giác đáy</a:t>
            </a:r>
          </a:p>
          <a:p>
            <a:pPr marL="274320" indent="-274320">
              <a:lnSpc>
                <a:spcPct val="110000"/>
              </a:lnSpc>
              <a:spcAft>
                <a:spcPts val="200"/>
              </a:spcAft>
              <a:buClr>
                <a:srgbClr val="EA580C"/>
              </a:buClr>
              <a:buFont typeface="Arial"/>
              <a:buChar char="●"/>
            </a:pPr>
            <a:r>
              <a:rPr sz="1300" b="0" i="0">
                <a:solidFill>
                  <a:srgbClr val="1F2937"/>
                </a:solidFill>
                <a:latin typeface="Arial"/>
              </a:rPr>
              <a:t>Tứ diện: 4 đỉnh, 6 cạnh, 4 mặt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246120"/>
            <a:ext cx="3246120" cy="1051560"/>
          </a:xfrm>
          <a:prstGeom prst="roundRect">
            <a:avLst>
              <a:gd name="adj" fmla="val 3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ĐƯỜNG THẲNG VÀ MẶT PHẲNG TRONG KHÔNG GIAN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" dur="50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" dur="50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9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1" dur="50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5" dur="50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9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Trắc nghiệm củng cố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EA580C"/>
                </a:solidFill>
                <a:latin typeface="Arial"/>
              </a:rPr>
              <a:t>Câu 1.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Có bao nhiêu mặt phẳng đi qua ba điểm không thẳng hàng?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7744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A.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Không có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7744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37744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B.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Một và chỉ một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2350008"/>
            <a:ext cx="2569464" cy="566928"/>
          </a:xfrm>
          <a:prstGeom prst="roundRect">
            <a:avLst>
              <a:gd name="adj" fmla="val 30000"/>
            </a:avLst>
          </a:prstGeom>
          <a:noFill/>
          <a:ln w="444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99923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99923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C.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Hai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99923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299923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D.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Vô số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4630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EA580C"/>
                </a:solidFill>
                <a:latin typeface="Arial"/>
              </a:rPr>
              <a:t>Câu 2.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Cho d có hai điểm phân biệt thuộc (P). Khẳng định nào đúng?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37744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37744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A.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d cắt (P)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37744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237744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B.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d ⊂ (P)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2350008"/>
            <a:ext cx="2569464" cy="566928"/>
          </a:xfrm>
          <a:prstGeom prst="roundRect">
            <a:avLst>
              <a:gd name="adj" fmla="val 30000"/>
            </a:avLst>
          </a:prstGeom>
          <a:noFill/>
          <a:ln w="444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55080" y="299923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299923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C.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d không có điểm chung với (P)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299923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9992" y="299923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D.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d và (P) có đúng 2 điểm chung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2336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EA580C"/>
                </a:solidFill>
                <a:latin typeface="Arial"/>
              </a:rPr>
              <a:t>Câu 3.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Yếu tố nào sau đây KHÔNG xác định duy nhất một mặt phẳng?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84632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A.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Ba điểm không thẳng hàng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84632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484632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B.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Hai đường thẳng cắt nhau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6811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C.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Một đường thẳng và một điểm nằm trên nó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" y="5440680"/>
            <a:ext cx="2569464" cy="566928"/>
          </a:xfrm>
          <a:prstGeom prst="roundRect">
            <a:avLst>
              <a:gd name="adj" fmla="val 30000"/>
            </a:avLst>
          </a:prstGeom>
          <a:noFill/>
          <a:ln w="444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83280" y="546811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643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D.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Một đường thẳng và một điểm nằm ngoài nó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9319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02336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EA580C"/>
                </a:solidFill>
                <a:latin typeface="Arial"/>
              </a:rPr>
              <a:t>Câu 4.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Hình chóp tứ giác S.ABCD có bao nhiêu cạnh?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84632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2" y="484632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A.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06840" y="484632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9992" y="484632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B.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546811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2823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C.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546811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999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D.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79408" y="5440680"/>
            <a:ext cx="2569464" cy="566928"/>
          </a:xfrm>
          <a:prstGeom prst="roundRect">
            <a:avLst>
              <a:gd name="adj" fmla="val 30000"/>
            </a:avLst>
          </a:prstGeom>
          <a:noFill/>
          <a:ln w="444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"/>
                            </p:stCondLst>
                            <p:childTnLst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"/>
                            </p:stCondLst>
                            <p:childTnLst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"/>
                            </p:stCondLst>
                            <p:childTnLst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"/>
                            </p:stCondLst>
                            <p:childTnLst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1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9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5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7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1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5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3" dur="50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7" dur="5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3" dur="5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9" dur="5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3" dur="50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7" dur="50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1" dur="50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5" dur="50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9" dur="50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3" dur="50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7" dur="500"/>
                                              <p:tgtEl>
                                                <p:spTgt spid="4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1" dur="500"/>
                                              <p:tgtEl>
                                                <p:spTgt spid="5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5" dur="50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8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1" dur="500"/>
                                              <p:tgtEl>
                                                <p:spTgt spid="5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Trắc nghiệm củng cố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EA580C"/>
                </a:solidFill>
                <a:latin typeface="Arial"/>
              </a:rPr>
              <a:t>Câu 5.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Hình tứ diện có bao nhiêu cạnh?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7744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A.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7744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37744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B.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2350008"/>
            <a:ext cx="2569464" cy="566928"/>
          </a:xfrm>
          <a:prstGeom prst="roundRect">
            <a:avLst>
              <a:gd name="adj" fmla="val 30000"/>
            </a:avLst>
          </a:prstGeom>
          <a:noFill/>
          <a:ln w="444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99923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99923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C.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99923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299923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D.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4630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EA580C"/>
                </a:solidFill>
                <a:latin typeface="Arial"/>
              </a:rPr>
              <a:t>Câu 6.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Cho S.ABCD đáy hình bình hành tâm O. Giao tuyến của (SAC) và (SBD) là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37744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37744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A.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37744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237744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B.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2350008"/>
            <a:ext cx="2569464" cy="566928"/>
          </a:xfrm>
          <a:prstGeom prst="roundRect">
            <a:avLst>
              <a:gd name="adj" fmla="val 30000"/>
            </a:avLst>
          </a:prstGeom>
          <a:noFill/>
          <a:ln w="444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55080" y="299923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299923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C.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AC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299923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9992" y="299923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D.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BD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2336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EA580C"/>
                </a:solidFill>
                <a:latin typeface="Arial"/>
              </a:rPr>
              <a:t>Câu 7.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Cho tứ diện ABCD. Cặp cạnh nào là hai cạnh đối diện?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84632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A.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AB và AC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84632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484632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B.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AB và BC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6811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C.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AB và CD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" y="5440680"/>
            <a:ext cx="2569464" cy="566928"/>
          </a:xfrm>
          <a:prstGeom prst="roundRect">
            <a:avLst>
              <a:gd name="adj" fmla="val 30000"/>
            </a:avLst>
          </a:prstGeom>
          <a:noFill/>
          <a:ln w="444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83280" y="546811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643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D.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AD và BD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9319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02336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 i="0">
                <a:solidFill>
                  <a:srgbClr val="EA580C"/>
                </a:solidFill>
                <a:latin typeface="Arial"/>
              </a:rPr>
              <a:t>Câu 8.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Muốn tìm giao tuyến của hai mặt phẳng, ta cần tìm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84632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2" y="484632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A.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một điểm chung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06840" y="4846320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9992" y="4846320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B.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hai điểm chung phân biệt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79408" y="4818888"/>
            <a:ext cx="2569464" cy="566928"/>
          </a:xfrm>
          <a:prstGeom prst="roundRect">
            <a:avLst>
              <a:gd name="adj" fmla="val 30000"/>
            </a:avLst>
          </a:prstGeom>
          <a:noFill/>
          <a:ln w="444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55080" y="546811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C.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ba điểm chung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06840" y="5468112"/>
            <a:ext cx="251460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999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E3A8A"/>
                </a:solidFill>
                <a:latin typeface="Arial"/>
              </a:rPr>
              <a:t>D.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một đường thẳng song song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"/>
                            </p:stCondLst>
                            <p:childTnLst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"/>
                            </p:stCondLst>
                            <p:childTnLst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"/>
                            </p:stCondLst>
                            <p:childTnLst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"/>
                            </p:stCondLst>
                            <p:childTnLst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"/>
                            </p:stCondLst>
                            <p:childTnLst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5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7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3" dur="50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57" dur="50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1" dur="50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5" dur="50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69" dur="50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3" dur="50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77" dur="50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1" dur="50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5" dur="50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89" dur="5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5" dur="50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9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1" dur="5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5" dur="5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5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3" dur="500"/>
                                              <p:tgtEl>
                                                <p:spTgt spid="3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7" dur="500"/>
                                              <p:tgtEl>
                                                <p:spTgt spid="3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1" dur="50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5" dur="500"/>
                                              <p:tgtEl>
                                                <p:spTgt spid="3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9" dur="500"/>
                                              <p:tgtEl>
                                                <p:spTgt spid="3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3" dur="500"/>
                                              <p:tgtEl>
                                                <p:spTgt spid="4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7" dur="500"/>
                                              <p:tgtEl>
                                                <p:spTgt spid="4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3" dur="50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9" dur="50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3" dur="500"/>
                                              <p:tgtEl>
                                                <p:spTgt spid="4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7" dur="500"/>
                                              <p:tgtEl>
                                                <p:spTgt spid="4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1" dur="50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5" dur="500"/>
                                              <p:tgtEl>
                                                <p:spTgt spid="4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7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9" dur="500"/>
                                              <p:tgtEl>
                                                <p:spTgt spid="4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3" dur="500"/>
                                              <p:tgtEl>
                                                <p:spTgt spid="4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7" dur="500"/>
                                              <p:tgtEl>
                                                <p:spTgt spid="5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1" dur="50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83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5" dur="500"/>
                                              <p:tgtEl>
                                                <p:spTgt spid="5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8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89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1" dur="50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VẬN DỤNG · BÀI TẬP VỀ NHÀ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E3A8A"/>
                </a:solidFill>
                <a:latin typeface="Arial"/>
              </a:rPr>
              <a:t>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914400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83112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Arial"/>
              </a:rPr>
              <a:t>Toán 11 – Kết nối tri thức · Chương IV · Bài 10: Đường thẳng và mặt phẳng trong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Arial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852160" cy="2468880"/>
          </a:xfrm>
          <a:prstGeom prst="roundRect">
            <a:avLst>
              <a:gd name="adj" fmla="val 6000"/>
            </a:avLst>
          </a:prstGeom>
          <a:solidFill>
            <a:srgbClr val="FCEEE6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53312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HOẠT ĐỘNG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5522976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• Học thuộc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6 tính chất thừa nhận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3 cách xác định mặt phẳng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• Làm các bài tập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4.1 – 4.8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(SGK trang 77).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Arial"/>
              </a:rPr>
              <a:t>• Ôn lại phương pháp tìm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giao tuyến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giao điểm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chứng minh </a:t>
            </a:r>
            <a:r>
              <a:rPr sz="1600" b="1" i="0">
                <a:solidFill>
                  <a:srgbClr val="1F2937"/>
                </a:solidFill>
                <a:latin typeface="Arial"/>
              </a:rPr>
              <a:t>ba điểm thẳng hàng</a:t>
            </a:r>
            <a:r>
              <a:rPr sz="16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852160" cy="1920240"/>
          </a:xfrm>
          <a:prstGeom prst="roundRect">
            <a:avLst>
              <a:gd name="adj" fmla="val 6000"/>
            </a:avLst>
          </a:prstGeom>
          <a:solidFill>
            <a:srgbClr val="E8EBF3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14223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498848"/>
            <a:ext cx="5522976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Bài thêm.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Cho hình chóp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S.ABCD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có đáy là hình thang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ABCD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(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//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CD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AB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&gt;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CD</a:t>
            </a:r>
            <a:r>
              <a:rPr sz="1500" b="0" i="0">
                <a:solidFill>
                  <a:srgbClr val="1F2937"/>
                </a:solidFill>
                <a:latin typeface="Arial"/>
              </a:rPr>
              <a:t>). Tìm giao tuyến của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(SAD)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(SBC)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; của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(SAC)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và </a:t>
            </a:r>
            <a:r>
              <a:rPr sz="1700" b="0" i="1">
                <a:solidFill>
                  <a:srgbClr val="1F2937"/>
                </a:solidFill>
                <a:latin typeface="Times New Roman"/>
              </a:rPr>
              <a:t>(SBD)</a:t>
            </a:r>
            <a:r>
              <a:rPr sz="1500" b="0" i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417320"/>
            <a:ext cx="4892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06_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4800600" cy="3200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0" y="4800600"/>
            <a:ext cx="48006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Vận dụng thực tế: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Tìm thêm các hình ảnh “giao tuyến” quanh em: mép tường và trần nhà, gáy sách khi mở, nếp gấp tờ giấy…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150"/>
                            </p:stCondLst>
                            <p:childTnLst>
                              <p:par>
                                <p:cTn id="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" dur="50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3" dur="50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" dur="50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1" presetID="10" presetClass="entr" presetSubtype="0" fill="hold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3" dur="50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7" dur="50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presetID="10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41" dur="50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